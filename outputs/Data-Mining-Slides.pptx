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74" r:id="rId14"/>
    <p:sldId id="275" r:id="rId15"/>
    <p:sldId id="270" r:id="rId16"/>
    <p:sldId id="273" r:id="rId17"/>
    <p:sldId id="271" r:id="rId18"/>
    <p:sldId id="277" r:id="rId19"/>
    <p:sldId id="272" r:id="rId20"/>
    <p:sldId id="26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0"/>
    <p:restoredTop sz="94678"/>
  </p:normalViewPr>
  <p:slideViewPr>
    <p:cSldViewPr snapToGrid="0" snapToObjects="1">
      <p:cViewPr>
        <p:scale>
          <a:sx n="88" d="100"/>
          <a:sy n="88" d="100"/>
        </p:scale>
        <p:origin x="3184" y="1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7C7DC1-A3E2-784C-BA68-D9EBA1E550C7}" type="datetimeFigureOut">
              <a:rPr lang="en-PE" smtClean="0"/>
              <a:t>9/05/26</a:t>
            </a:fld>
            <a:endParaRPr lang="en-P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07496-B2FC-1141-A9E6-C9256A0F99EF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611167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07496-B2FC-1141-A9E6-C9256A0F99EF}" type="slidenum">
              <a:rPr lang="en-PE" smtClean="0"/>
              <a:t>10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835124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BDF23-BB0E-3D02-6E5D-A8C80637C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6E1E1-06B3-E9AF-CB03-F0B506BC1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836F0-ACD5-F3D2-6293-53B97BF34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2A3AF-B8D1-A9A3-093A-12895419C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07496-B2FC-1141-A9E6-C9256A0F99EF}" type="slidenum">
              <a:rPr lang="en-PE" smtClean="0"/>
              <a:t>11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968119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07496-B2FC-1141-A9E6-C9256A0F99EF}" type="slidenum">
              <a:rPr lang="en-PE" smtClean="0"/>
              <a:t>13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435465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07496-B2FC-1141-A9E6-C9256A0F99EF}" type="slidenum">
              <a:rPr lang="en-PE" smtClean="0"/>
              <a:t>16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707511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E07496-B2FC-1141-A9E6-C9256A0F99EF}" type="slidenum">
              <a:rPr lang="en-PE" smtClean="0"/>
              <a:t>20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259525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2286000"/>
            <a:ext cx="137160" cy="22860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Procesamiento y Análisis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4B400"/>
                </a:solidFill>
                <a:latin typeface="Calibri"/>
              </a:rPr>
              <a:t>Datos Masivos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MovieLens 20M  ·  PySpark  ·  MinHash + LSH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3200400" cy="15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Curso de Data Mining  ·  UTEC  ·  Prof. Heider Sanchez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CADCFC"/>
                </a:solidFill>
                <a:latin typeface="Calibri"/>
              </a:rPr>
              <a:t>Autor: Johar</a:t>
            </a:r>
            <a:r>
              <a:rPr lang="en-US" sz="1400" b="0" i="0" dirty="0">
                <a:solidFill>
                  <a:srgbClr val="CADCFC"/>
                </a:solidFill>
                <a:latin typeface="Calibri"/>
              </a:rPr>
              <a:t>, Nahia, Alejandro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 ·  Abril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86400"/>
            <a:ext cx="2286000" cy="457200"/>
          </a:xfrm>
          <a:prstGeom prst="round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 err="1">
                <a:solidFill>
                  <a:srgbClr val="1F3864"/>
                </a:solidFill>
                <a:latin typeface="Calibri"/>
              </a:rPr>
              <a:t>Sustentación</a:t>
            </a:r>
            <a:r>
              <a:rPr sz="1200" b="1" dirty="0">
                <a:solidFill>
                  <a:srgbClr val="1F3864"/>
                </a:solidFill>
                <a:latin typeface="Calibri"/>
              </a:rPr>
              <a:t> · Proyecto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El problema: datos masivos de comportamiento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286000" cy="1188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3152" cy="11887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20M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Ratings (0.5 – 5.0)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371600"/>
            <a:ext cx="2286000" cy="1188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0360" y="1371600"/>
            <a:ext cx="73152" cy="11887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3240" y="15087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138K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1488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Usuarios activos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97480"/>
            <a:ext cx="2286000" cy="1188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697480"/>
            <a:ext cx="73152" cy="11887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8346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27K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747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Películas en catálogo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2697480"/>
            <a:ext cx="2286000" cy="1188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80360" y="2697480"/>
            <a:ext cx="73152" cy="11887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63240" y="28346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1995–2015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4747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Años de historia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3716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MovieLens 20M (GroupLens, U. Minnesota)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1874519"/>
            <a:ext cx="59436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Plataforma de recomendación de la Universidad de Minnesota. Cada usuario calificó al menos 20 películas en escala de 0.5 a 5.0 estrellas.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endParaRPr sz="1300" b="0" i="0">
              <a:solidFill>
                <a:srgbClr val="595959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Tres preguntas guía: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Caracterizar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el dataset (EDA distribuido)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Encontrar las películas más populares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(RDD vs DataFrame)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Detectar pares similares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(Jaccard / MinHash / LSH)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29200"/>
            <a:ext cx="11155680" cy="12801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1206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Archivos usados: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4068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3864"/>
                </a:solidFill>
                <a:latin typeface="Calibri"/>
              </a:rPr>
              <a:t>ratings.csv</a:t>
            </a:r>
            <a:r>
              <a:rPr sz="1100" b="0" i="0">
                <a:solidFill>
                  <a:srgbClr val="595959"/>
                </a:solidFill>
                <a:latin typeface="Calibri"/>
              </a:rPr>
              <a:t> (533 MB · 20M ratings) ·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movies.csv</a:t>
            </a:r>
            <a:r>
              <a:rPr sz="1100" b="0" i="0">
                <a:solidFill>
                  <a:srgbClr val="595959"/>
                </a:solidFill>
                <a:latin typeface="Calibri"/>
              </a:rPr>
              <a:t> (27K películas) ·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tags.csv</a:t>
            </a:r>
            <a:r>
              <a:rPr sz="1100" b="0" i="0">
                <a:solidFill>
                  <a:srgbClr val="595959"/>
                </a:solidFill>
                <a:latin typeface="Calibri"/>
              </a:rPr>
              <a:t> (465K tags)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00" b="0" i="1">
                <a:solidFill>
                  <a:srgbClr val="595959"/>
                </a:solidFill>
                <a:latin typeface="Calibri"/>
              </a:rPr>
              <a:t>Descartados: links.csv (IDs externos), genome-scores.csv (323 MB no requeridos), genome-tags.csv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112" y="22860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Arquitectura: Spark distribuido sobre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828800"/>
            <a:ext cx="2560320" cy="11887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Spark 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localhost:8080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CADCFC"/>
                </a:solidFill>
                <a:latin typeface="Calibri"/>
              </a:rPr>
              <a:t>Coordina scheduling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2560320" cy="1188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Worker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10 cores · 6.6 GiB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828800"/>
            <a:ext cx="2560320" cy="1188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1920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Worker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286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10 cores · 6.6 GiB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2395728"/>
            <a:ext cx="640080" cy="20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0" y="2395728"/>
            <a:ext cx="640080" cy="20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0" y="3657600"/>
            <a:ext cx="2560320" cy="9144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3749039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Jupyter + PySpark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1148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F3864"/>
                </a:solidFill>
                <a:latin typeface="Calibri"/>
              </a:rPr>
              <a:t>Mac M1 Pro (ARM)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3017520"/>
            <a:ext cx="20000" cy="6400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Stack tecnológico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4068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864"/>
                </a:solidFill>
                <a:latin typeface="Calibri"/>
              </a:rPr>
              <a:t>Apache Spark 4.1.1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(PySpark · MLlib)   ·   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Docker Compose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(1 master + 2 workers · 20 cores · 13.3 GiB)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1" i="0">
                <a:solidFill>
                  <a:srgbClr val="1F3864"/>
                </a:solidFill>
                <a:latin typeface="Calibri"/>
              </a:rPr>
              <a:t>Python 3.11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· pandas · NumPy · matplotlib   ·   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Persistencia: Parquet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(compresión + esquema)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1 · Preprocesamiento y limpieza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703320" cy="4297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371600" cy="3657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 LIMPIEZA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3832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864"/>
                </a:solidFill>
                <a:latin typeface="Calibri"/>
              </a:rPr>
              <a:t>Verificación de calidad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0 nulos · 0 duplicados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0 ratings fuera de [0.5, 5.0]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Correcciones aplicadas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1" i="0">
                <a:solidFill>
                  <a:srgbClr val="1F3864"/>
                </a:solidFill>
                <a:latin typeface="Calibri"/>
              </a:rPr>
              <a:t>• 246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películas sin género → 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Unknown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1" i="0">
                <a:solidFill>
                  <a:srgbClr val="1F3864"/>
                </a:solidFill>
                <a:latin typeface="Calibri"/>
              </a:rPr>
              <a:t>• 2,334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tags </a:t>
            </a:r>
            <a:r>
              <a:rPr sz="1200" b="0" i="1">
                <a:solidFill>
                  <a:srgbClr val="1F3864"/>
                </a:solidFill>
                <a:latin typeface="Calibri"/>
              </a:rPr>
              <a:t>bd-r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eliminados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703320" cy="4297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80560" y="1600200"/>
            <a:ext cx="1371600" cy="3657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 GÉNEROS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3832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864"/>
                </a:solidFill>
                <a:latin typeface="Calibri"/>
              </a:rPr>
              <a:t>Unificación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0" i="1">
                <a:solidFill>
                  <a:srgbClr val="595959"/>
                </a:solidFill>
                <a:latin typeface="Calibri"/>
              </a:rPr>
              <a:t>Sci-Fi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  →  </a:t>
            </a:r>
            <a:r>
              <a:rPr sz="1200" b="0" i="1">
                <a:solidFill>
                  <a:srgbClr val="595959"/>
                </a:solidFill>
                <a:latin typeface="Calibri"/>
              </a:rPr>
              <a:t>Science Fiction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 i="1">
                <a:solidFill>
                  <a:srgbClr val="595959"/>
                </a:solidFill>
                <a:latin typeface="Calibri"/>
              </a:rPr>
              <a:t>Film-Noir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  →  </a:t>
            </a:r>
            <a:r>
              <a:rPr sz="1200" b="0" i="1">
                <a:solidFill>
                  <a:srgbClr val="595959"/>
                </a:solidFill>
                <a:latin typeface="Calibri"/>
              </a:rPr>
              <a:t>Film Noir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 i="1">
                <a:solidFill>
                  <a:srgbClr val="595959"/>
                </a:solidFill>
                <a:latin typeface="Calibri"/>
              </a:rPr>
              <a:t>Children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  →  </a:t>
            </a:r>
            <a:r>
              <a:rPr sz="1200" b="0" i="1">
                <a:solidFill>
                  <a:srgbClr val="595959"/>
                </a:solidFill>
                <a:latin typeface="Calibri"/>
              </a:rPr>
              <a:t>Children's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Eliminado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1" i="1">
                <a:solidFill>
                  <a:srgbClr val="1F3864"/>
                </a:solidFill>
                <a:latin typeface="Calibri"/>
              </a:rPr>
              <a:t>IMAX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— es un formato, no un género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463040"/>
            <a:ext cx="3703320" cy="4297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75320" y="1600200"/>
            <a:ext cx="1554480" cy="3657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 BINARIZACIÓN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94560"/>
            <a:ext cx="33832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864"/>
                </a:solidFill>
                <a:latin typeface="Calibri"/>
              </a:rPr>
              <a:t>Umbral: rating ≥ 3.5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1">
                <a:solidFill>
                  <a:srgbClr val="595959"/>
                </a:solidFill>
                <a:latin typeface="Calibri"/>
              </a:rPr>
              <a:t>Justificación: 3.5 = media del dataset (3.53)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2200" b="1" i="0">
                <a:solidFill>
                  <a:srgbClr val="1F3864"/>
                </a:solidFill>
                <a:latin typeface="Calibri"/>
              </a:rPr>
              <a:t>61% likes</a:t>
            </a:r>
            <a:r>
              <a:rPr sz="2200" b="0" i="0">
                <a:solidFill>
                  <a:srgbClr val="595959"/>
                </a:solidFill>
                <a:latin typeface="Calibri"/>
              </a:rPr>
              <a:t>  ·  </a:t>
            </a:r>
            <a:r>
              <a:rPr sz="2200" b="1" i="0">
                <a:solidFill>
                  <a:srgbClr val="595959"/>
                </a:solidFill>
                <a:latin typeface="Calibri"/>
              </a:rPr>
              <a:t>39% dislikes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Salida persistida (Parquet)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 i="0">
                <a:solidFill>
                  <a:srgbClr val="595959"/>
                </a:solidFill>
                <a:latin typeface="Calibri"/>
              </a:rPr>
              <a:t>• ratings_clean.parquet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100" b="0" i="0">
                <a:solidFill>
                  <a:srgbClr val="595959"/>
                </a:solidFill>
                <a:latin typeface="Calibri"/>
              </a:rPr>
              <a:t>• movies_clean.parquet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100" b="0" i="0">
                <a:solidFill>
                  <a:srgbClr val="595959"/>
                </a:solidFill>
                <a:latin typeface="Calibri"/>
              </a:rPr>
              <a:t>• tags_clean.parquet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EDA · Cómo califican los usuarios y qué tan rala es la matriz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01_distribucion_ra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580786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5826" y="4800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 err="1">
                <a:solidFill>
                  <a:srgbClr val="595959"/>
                </a:solidFill>
                <a:latin typeface="Calibri"/>
              </a:rPr>
              <a:t>Distribución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de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20M ratings ·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sesgo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a ratings altos</a:t>
            </a:r>
          </a:p>
        </p:txBody>
      </p:sp>
      <p:pic>
        <p:nvPicPr>
          <p:cNvPr id="9" name="Picture 8" descr="05_spa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706" y="1508760"/>
            <a:ext cx="3663387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8006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>
                <a:solidFill>
                  <a:srgbClr val="595959"/>
                </a:solidFill>
                <a:latin typeface="Calibri"/>
              </a:rPr>
              <a:t>Sparsity de la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matriz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usuario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×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película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= 99.46%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20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Lectura conjunta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8640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 Media 3.53, mediana 3.5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— los usuarios prefieren números enteros (3, 4, 5) y califican mayormente positivo. Justifica el umbral de 3.5 para like / dislike.</a:t>
            </a:r>
          </a:p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 3.7B celdas posibles vs 20M con rating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— el 99.46% está vacío. Justifica MinHash + LSH: comparar todos los pares es O(N²) y casi todos darían intersección nula.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808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EDA · Power law en usuarios y películas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03_ratings_por_pelic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1125435"/>
            <a:ext cx="10886045" cy="25192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38247" y="3610433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>
                <a:solidFill>
                  <a:srgbClr val="595959"/>
                </a:solidFill>
                <a:latin typeface="Calibri"/>
              </a:rPr>
              <a:t>Ratings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por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película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·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histograma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+ boxplot + curva de percentiles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2577" y="4132306"/>
            <a:ext cx="2683413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2577" y="4132306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05457" y="4269466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F3864"/>
                </a:solidFill>
                <a:latin typeface="Calibri"/>
              </a:rPr>
              <a:t>P50 =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5457" y="4909546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595959"/>
                </a:solidFill>
                <a:latin typeface="Calibri"/>
              </a:rPr>
              <a:t>Mitad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de las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películas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tiene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≤18 ratings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7928" y="4132306"/>
            <a:ext cx="2683413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87928" y="4132306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70808" y="4269466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F3864"/>
                </a:solidFill>
                <a:latin typeface="Calibri"/>
              </a:rPr>
              <a:t>P75 = 205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0808" y="4909546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95959"/>
                </a:solidFill>
                <a:latin typeface="Calibri"/>
              </a:rPr>
              <a:t>75% de las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películas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con &lt;205 ratings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53279" y="4132306"/>
            <a:ext cx="2683413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53279" y="4132306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36159" y="4269466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F3864"/>
                </a:solidFill>
                <a:latin typeface="Calibri"/>
              </a:rPr>
              <a:t>max = 67,310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159" y="4909546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95959"/>
                </a:solidFill>
                <a:latin typeface="Calibri"/>
              </a:rPr>
              <a:t>Pulp Fiction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lidera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el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catálogo</a:t>
            </a:r>
            <a:endParaRPr sz="1100" b="0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5430263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Lectura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96023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F3864"/>
                </a:solidFill>
                <a:latin typeface="Calibri"/>
              </a:rPr>
              <a:t>•  Long-tail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clásico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la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mitad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inferior del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catálogo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apenas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concentra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ratings;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el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top 25%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acumula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casi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todos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datos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F3864"/>
                </a:solidFill>
                <a:latin typeface="Calibri"/>
              </a:rPr>
              <a:t>•  Power-law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usuarios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P75 = 155 ratings,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pero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outliers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superan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9,000. Hay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decidir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si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filtrar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o 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EDA · Géneros y evolución temporal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04_distribucion_gene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66928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98348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Drama (13,344) y Comedy (8,374) &gt; 50% del catálogo</a:t>
            </a:r>
          </a:p>
        </p:txBody>
      </p:sp>
      <p:pic>
        <p:nvPicPr>
          <p:cNvPr id="9" name="Picture 8" descr="06_evolucion_temp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2103120"/>
            <a:ext cx="530352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9834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Picos en 2000 y 2005 · caída por 2015 (export parcial)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0352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Interpretación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F3864"/>
                </a:solidFill>
                <a:latin typeface="Calibri"/>
              </a:rPr>
              <a:t>• 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Concentración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pocos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géneros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— Drama y Comedy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dominan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; Western (676), Film-Noir (330) son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nichos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. Una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película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puede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tener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varios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géneros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(overlap).</a:t>
            </a:r>
          </a:p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F3864"/>
                </a:solidFill>
                <a:latin typeface="Calibri"/>
              </a:rPr>
              <a:t>•  Picos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 2000 y 2005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coinciden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con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el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auge del DVD y la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consolidación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plataformas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online;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caída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posterior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por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migración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a Netflix/YouTube.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2 · Top-20 películas más calificadas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08_top20_pelicu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31520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146304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El cine icónico de los 90s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920240"/>
            <a:ext cx="3749039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Pulp Fiction lidera con 67,310 ratings — un orden de magnitud por encima del promedio del catálogo.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200" b="1" i="0">
                <a:solidFill>
                  <a:srgbClr val="1F3864"/>
                </a:solidFill>
                <a:latin typeface="Calibri"/>
              </a:rPr>
              <a:t>Implementación: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00" b="0" i="0">
                <a:solidFill>
                  <a:srgbClr val="1F3864"/>
                </a:solidFill>
                <a:latin typeface="Consolas"/>
              </a:rPr>
              <a:t>ratings.groupBy("movieId").count()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000" b="0" i="0">
                <a:solidFill>
                  <a:srgbClr val="1F3864"/>
                </a:solidFill>
                <a:latin typeface="Consolas"/>
              </a:rPr>
              <a:t>.join(movies, "movieId")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000" b="0" i="0">
                <a:solidFill>
                  <a:srgbClr val="1F3864"/>
                </a:solidFill>
                <a:latin typeface="Consolas"/>
              </a:rPr>
              <a:t>.orderBy(desc("count"))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000" b="0" i="0">
                <a:solidFill>
                  <a:srgbClr val="1F3864"/>
                </a:solidFill>
                <a:latin typeface="Consolas"/>
              </a:rPr>
              <a:t>.limit(20)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4572000"/>
            <a:ext cx="3749039" cy="1371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92440" y="4572000"/>
            <a:ext cx="73152" cy="13716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4709160"/>
            <a:ext cx="347471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67,310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5349240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ratings de Pulp Fiction
(la película más calificada del dataset)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2 · DataFrame vs RDD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Speedup de DataFrame sobre RDD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486400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~119×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0574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Conteo por película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468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(inflado por caché en memoria)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08960"/>
            <a:ext cx="5486400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108960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~10×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2004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Top-20 con join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611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más complejo · representativo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51960"/>
            <a:ext cx="5486400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4251960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3434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~14×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3434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Conteo por usuario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754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agregación simple sin join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¿Por qué DataFrame gana?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74519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 Catalyst Optimizer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analiza el plan lógico y reorganiza filtros, joins y proyecciones para minimizar shuffles.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 Tungsten engine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compila a bytecode JVM optimizado y trabaja con memoria off-heap (sin overhead de objetos).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 RDD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procesa lambdas Python una a una, sin optimizaciones globales — útil para lógica que SQL no expresa, pero más lento por defecto.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577840"/>
            <a:ext cx="5486400" cy="502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Para queries SQL-style: DataFrame es la opción por defecto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288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93776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02336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3 · Representación de películas como conjuntos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0817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Opción A · cada película = conjunto de usuarios con 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11096"/>
            <a:ext cx="54864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 dirty="0">
                <a:solidFill>
                  <a:srgbClr val="1F3864"/>
                </a:solidFill>
                <a:latin typeface="Calibri"/>
              </a:rPr>
              <a:t>Pulp Fiction</a:t>
            </a:r>
            <a:r>
              <a:rPr sz="1300" b="0" i="0" dirty="0">
                <a:solidFill>
                  <a:srgbClr val="595959"/>
                </a:solidFill>
                <a:latin typeface="Consolas"/>
              </a:rPr>
              <a:t> = {u1, u5, u9, u23, …}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1" i="1" dirty="0">
                <a:solidFill>
                  <a:srgbClr val="1F3864"/>
                </a:solidFill>
                <a:latin typeface="Calibri"/>
              </a:rPr>
              <a:t>Forrest Gump</a:t>
            </a:r>
            <a:r>
              <a:rPr sz="1300" b="0" i="0" dirty="0">
                <a:solidFill>
                  <a:srgbClr val="595959"/>
                </a:solidFill>
                <a:latin typeface="Consolas"/>
              </a:rPr>
              <a:t> = {u1, u3, u9, u41, …}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endParaRPr sz="1300" b="0" i="0" dirty="0">
              <a:solidFill>
                <a:srgbClr val="595959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1" i="0" dirty="0">
                <a:solidFill>
                  <a:srgbClr val="1F3864"/>
                </a:solidFill>
                <a:latin typeface="Calibri"/>
              </a:rPr>
              <a:t>Jaccard:  J(A,B) = |A∩B| / |A∪B|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 i="1" dirty="0">
                <a:solidFill>
                  <a:srgbClr val="595959"/>
                </a:solidFill>
                <a:latin typeface="Calibri"/>
              </a:rPr>
              <a:t>Solo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presencia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/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ausencia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, no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frecuencia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. Rango [0,1].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562856"/>
            <a:ext cx="5486400" cy="14630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4562856"/>
            <a:ext cx="73152" cy="14630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654296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Filtro de calidad: ≥ 50 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65776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8,362 películas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con firma. Por debajo de 50 elementos el Jaccard se vuelve inestable (cambio &gt;1.5% al añadir un usuario).</a:t>
            </a:r>
          </a:p>
        </p:txBody>
      </p:sp>
      <p:pic>
        <p:nvPicPr>
          <p:cNvPr id="13" name="Picture 12" descr="10_sensibilidad_jac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996696"/>
            <a:ext cx="5394960" cy="3108960"/>
          </a:xfrm>
          <a:prstGeom prst="rect">
            <a:avLst/>
          </a:prstGeom>
        </p:spPr>
      </p:pic>
      <p:pic>
        <p:nvPicPr>
          <p:cNvPr id="15" name="Picture 14" descr="11_analisis_muestra_jac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025" y="4280952"/>
            <a:ext cx="5897055" cy="228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71812" y="6569085"/>
            <a:ext cx="525293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 err="1">
                <a:solidFill>
                  <a:srgbClr val="595959"/>
                </a:solidFill>
                <a:latin typeface="Calibri"/>
              </a:rPr>
              <a:t>Muestra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de 200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películas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→ 19,900 pares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como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ground truth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FEF85-B3CD-4A80-3861-249344D4A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725F13-328A-E285-6441-FABBCAC07214}"/>
              </a:ext>
            </a:extLst>
          </p:cNvPr>
          <p:cNvSpPr/>
          <p:nvPr/>
        </p:nvSpPr>
        <p:spPr>
          <a:xfrm>
            <a:off x="0" y="29104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5D58FC-4290-591D-DD5F-3E33B726AFE8}"/>
              </a:ext>
            </a:extLst>
          </p:cNvPr>
          <p:cNvSpPr/>
          <p:nvPr/>
        </p:nvSpPr>
        <p:spPr>
          <a:xfrm>
            <a:off x="411480" y="493776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29360D-375C-9183-3AB6-F35FBA9EF983}"/>
              </a:ext>
            </a:extLst>
          </p:cNvPr>
          <p:cNvSpPr txBox="1"/>
          <p:nvPr/>
        </p:nvSpPr>
        <p:spPr>
          <a:xfrm>
            <a:off x="640080" y="402336"/>
            <a:ext cx="1051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864"/>
                </a:solidFill>
                <a:latin typeface="Calibri"/>
              </a:rPr>
              <a:t>Fase 3 · </a:t>
            </a:r>
            <a:r>
              <a:rPr lang="en-US" sz="2800" b="1" i="0" dirty="0">
                <a:solidFill>
                  <a:srgbClr val="1F3864"/>
                </a:solidFill>
                <a:latin typeface="Calibri"/>
              </a:rPr>
              <a:t>Los pares </a:t>
            </a:r>
            <a:r>
              <a:rPr lang="en-US" sz="2800" b="1" i="0" dirty="0" err="1">
                <a:solidFill>
                  <a:srgbClr val="1F3864"/>
                </a:solidFill>
                <a:latin typeface="Calibri"/>
              </a:rPr>
              <a:t>similares</a:t>
            </a:r>
            <a:r>
              <a:rPr lang="en-US" sz="2800" b="1" i="0" dirty="0">
                <a:solidFill>
                  <a:srgbClr val="1F3864"/>
                </a:solidFill>
                <a:latin typeface="Calibri"/>
              </a:rPr>
              <a:t> son </a:t>
            </a:r>
            <a:r>
              <a:rPr lang="en-US" sz="2800" b="1" i="0" dirty="0" err="1">
                <a:solidFill>
                  <a:srgbClr val="1F3864"/>
                </a:solidFill>
                <a:latin typeface="Calibri"/>
              </a:rPr>
              <a:t>raros</a:t>
            </a:r>
            <a:endParaRPr sz="2800" b="1" i="0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61331-84CB-03BF-DF49-FB311DE74E9D}"/>
              </a:ext>
            </a:extLst>
          </p:cNvPr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0E4EAF-F78A-240D-2BA1-EEDA1B838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" y="1425779"/>
            <a:ext cx="9092184" cy="441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41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3 · MinHash aproxima Jaccard a una fracción del costo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12_jaccard_exacto_vs_minh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8580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2349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 err="1">
                <a:solidFill>
                  <a:srgbClr val="595959"/>
                </a:solidFill>
                <a:latin typeface="Calibri"/>
              </a:rPr>
              <a:t>Distribución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de J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exacto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· scatter J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exacto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vs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MinHash</a:t>
            </a:r>
            <a:endParaRPr sz="1000" b="0" i="1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Métricas vs Jaccard exacto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920240"/>
            <a:ext cx="4206240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80960" y="1920240"/>
            <a:ext cx="73152" cy="9144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05740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MAE 0.0104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6974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Error medio absoluto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926080"/>
            <a:ext cx="4206240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2926080"/>
            <a:ext cx="73152" cy="9144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06324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0.8894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7033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Correlación de Pearson (p &lt; 1e-300)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3931920"/>
            <a:ext cx="4206240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80960" y="3931920"/>
            <a:ext cx="73152" cy="9144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406908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100 hashes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091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595959"/>
                </a:solidFill>
                <a:latin typeface="Calibri"/>
              </a:rPr>
              <a:t>Vectores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de 100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enteros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vs sets de 500+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usuarios</a:t>
            </a:r>
            <a:endParaRPr sz="1100" b="0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75898" y="5029200"/>
            <a:ext cx="3611301" cy="83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F3864"/>
                </a:solidFill>
                <a:latin typeface="Calibri"/>
              </a:rPr>
              <a:t>Lectura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 i="1" dirty="0" err="1">
                <a:solidFill>
                  <a:srgbClr val="595959"/>
                </a:solidFill>
                <a:latin typeface="Calibri"/>
              </a:rPr>
              <a:t>MinHash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preserva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el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ranking de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similitud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— lo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crítico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para un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recomendador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. El error se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concentra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en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pares de baja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similitud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,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donde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el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ruido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importa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menos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B854D3-0C76-95BF-1A40-9BB6D69EE282}"/>
              </a:ext>
            </a:extLst>
          </p:cNvPr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9EAE8-1379-9F2D-FAA5-DB04BB4E5167}"/>
              </a:ext>
            </a:extLst>
          </p:cNvPr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3 · LSH · trade-off precisión vs recall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68EB4-4577-B75C-326D-5EA407D18DE8}"/>
              </a:ext>
            </a:extLst>
          </p:cNvPr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 dirty="0">
                <a:solidFill>
                  <a:srgbClr val="595959"/>
                </a:solidFill>
                <a:latin typeface="Calibri"/>
              </a:rPr>
              <a:t>Proyecto 1 · Data Mining UTEC · </a:t>
            </a:r>
            <a:r>
              <a:rPr sz="900" b="0" i="1" dirty="0" err="1">
                <a:solidFill>
                  <a:srgbClr val="595959"/>
                </a:solidFill>
                <a:latin typeface="Calibri"/>
              </a:rPr>
              <a:t>MovieLens</a:t>
            </a:r>
            <a:r>
              <a:rPr sz="900" b="0" i="1" dirty="0">
                <a:solidFill>
                  <a:srgbClr val="595959"/>
                </a:solidFill>
                <a:latin typeface="Calibri"/>
              </a:rPr>
              <a:t> 20M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1B629-55D4-EC32-E2E1-D055B88F4E50}"/>
              </a:ext>
            </a:extLst>
          </p:cNvPr>
          <p:cNvSpPr txBox="1"/>
          <p:nvPr/>
        </p:nvSpPr>
        <p:spPr>
          <a:xfrm>
            <a:off x="7894735" y="14173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F3864"/>
                </a:solidFill>
                <a:latin typeface="Calibri"/>
              </a:rPr>
              <a:t>Resultados</a:t>
            </a:r>
            <a:r>
              <a:rPr sz="14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F3864"/>
                </a:solidFill>
                <a:latin typeface="Calibri"/>
              </a:rPr>
              <a:t>por</a:t>
            </a:r>
            <a:r>
              <a:rPr sz="14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F3864"/>
                </a:solidFill>
                <a:latin typeface="Calibri"/>
              </a:rPr>
              <a:t>configuración</a:t>
            </a:r>
            <a:endParaRPr sz="1400" b="1" i="0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61F8CE-05F3-A9E1-81D5-35CFF0AF6615}"/>
              </a:ext>
            </a:extLst>
          </p:cNvPr>
          <p:cNvSpPr/>
          <p:nvPr/>
        </p:nvSpPr>
        <p:spPr>
          <a:xfrm>
            <a:off x="7894735" y="1771957"/>
            <a:ext cx="64008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4882B-288F-6996-4202-BFF205BF61E8}"/>
              </a:ext>
            </a:extLst>
          </p:cNvPr>
          <p:cNvSpPr txBox="1"/>
          <p:nvPr/>
        </p:nvSpPr>
        <p:spPr>
          <a:xfrm>
            <a:off x="7894735" y="177195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4E0F60-0B9D-E76D-720F-62DAB3A1C6F6}"/>
              </a:ext>
            </a:extLst>
          </p:cNvPr>
          <p:cNvSpPr/>
          <p:nvPr/>
        </p:nvSpPr>
        <p:spPr>
          <a:xfrm>
            <a:off x="8534815" y="1771957"/>
            <a:ext cx="64008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2D03B8-3CF6-B2D2-8C63-9FADA794DDDB}"/>
              </a:ext>
            </a:extLst>
          </p:cNvPr>
          <p:cNvSpPr txBox="1"/>
          <p:nvPr/>
        </p:nvSpPr>
        <p:spPr>
          <a:xfrm>
            <a:off x="8534815" y="177195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A25DB-75A7-A4BF-4669-071AC70F972E}"/>
              </a:ext>
            </a:extLst>
          </p:cNvPr>
          <p:cNvSpPr/>
          <p:nvPr/>
        </p:nvSpPr>
        <p:spPr>
          <a:xfrm>
            <a:off x="9174895" y="1771957"/>
            <a:ext cx="100584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493478-F96F-65B5-8240-30787A0D9C5E}"/>
              </a:ext>
            </a:extLst>
          </p:cNvPr>
          <p:cNvSpPr txBox="1"/>
          <p:nvPr/>
        </p:nvSpPr>
        <p:spPr>
          <a:xfrm>
            <a:off x="9174895" y="1771957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Cand.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7B07C4-B829-B1A8-9DE3-D8B7F5AE0E98}"/>
              </a:ext>
            </a:extLst>
          </p:cNvPr>
          <p:cNvSpPr/>
          <p:nvPr/>
        </p:nvSpPr>
        <p:spPr>
          <a:xfrm>
            <a:off x="10180735" y="1771957"/>
            <a:ext cx="86868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54D575-ACF0-745B-7A26-18CE943B3C66}"/>
              </a:ext>
            </a:extLst>
          </p:cNvPr>
          <p:cNvSpPr txBox="1"/>
          <p:nvPr/>
        </p:nvSpPr>
        <p:spPr>
          <a:xfrm>
            <a:off x="10180735" y="177195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6BAC53-B17F-6C92-20ED-49081D58421D}"/>
              </a:ext>
            </a:extLst>
          </p:cNvPr>
          <p:cNvSpPr/>
          <p:nvPr/>
        </p:nvSpPr>
        <p:spPr>
          <a:xfrm>
            <a:off x="11049415" y="1771957"/>
            <a:ext cx="86868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FCAF2F-D06F-FD41-D927-10FCE531614F}"/>
              </a:ext>
            </a:extLst>
          </p:cNvPr>
          <p:cNvSpPr txBox="1"/>
          <p:nvPr/>
        </p:nvSpPr>
        <p:spPr>
          <a:xfrm>
            <a:off x="11049415" y="177195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70A030-7A7C-83F1-9313-D3DB75B639E6}"/>
              </a:ext>
            </a:extLst>
          </p:cNvPr>
          <p:cNvSpPr/>
          <p:nvPr/>
        </p:nvSpPr>
        <p:spPr>
          <a:xfrm>
            <a:off x="7894735" y="218343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57AA5A-6A6D-C38B-840A-E2D14D565C4B}"/>
              </a:ext>
            </a:extLst>
          </p:cNvPr>
          <p:cNvSpPr txBox="1"/>
          <p:nvPr/>
        </p:nvSpPr>
        <p:spPr>
          <a:xfrm>
            <a:off x="7894735" y="218343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3B4D2E-FCE7-E68F-AA8E-B605D1196F3E}"/>
              </a:ext>
            </a:extLst>
          </p:cNvPr>
          <p:cNvSpPr/>
          <p:nvPr/>
        </p:nvSpPr>
        <p:spPr>
          <a:xfrm>
            <a:off x="8534815" y="218343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E557A8-5D28-1F7C-98C6-E2F38F8A9A91}"/>
              </a:ext>
            </a:extLst>
          </p:cNvPr>
          <p:cNvSpPr txBox="1"/>
          <p:nvPr/>
        </p:nvSpPr>
        <p:spPr>
          <a:xfrm>
            <a:off x="8534815" y="218343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BED0DE-A813-C0E1-0F5B-18924390B3A9}"/>
              </a:ext>
            </a:extLst>
          </p:cNvPr>
          <p:cNvSpPr/>
          <p:nvPr/>
        </p:nvSpPr>
        <p:spPr>
          <a:xfrm>
            <a:off x="9174895" y="2183437"/>
            <a:ext cx="1005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F70782-D1D2-9F6E-2C44-D8AC45EAC29E}"/>
              </a:ext>
            </a:extLst>
          </p:cNvPr>
          <p:cNvSpPr txBox="1"/>
          <p:nvPr/>
        </p:nvSpPr>
        <p:spPr>
          <a:xfrm>
            <a:off x="9174895" y="2183437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13,090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846A2A-AC81-CB2A-A18D-F0A300B1DAE1}"/>
              </a:ext>
            </a:extLst>
          </p:cNvPr>
          <p:cNvSpPr/>
          <p:nvPr/>
        </p:nvSpPr>
        <p:spPr>
          <a:xfrm>
            <a:off x="10180735" y="218343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811229-9F42-7AEC-E57D-EA5F8E9B3E0D}"/>
              </a:ext>
            </a:extLst>
          </p:cNvPr>
          <p:cNvSpPr txBox="1"/>
          <p:nvPr/>
        </p:nvSpPr>
        <p:spPr>
          <a:xfrm>
            <a:off x="10180735" y="218343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0.031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159BAE-C4E4-957E-57FA-ECBB0D6B2CA7}"/>
              </a:ext>
            </a:extLst>
          </p:cNvPr>
          <p:cNvSpPr/>
          <p:nvPr/>
        </p:nvSpPr>
        <p:spPr>
          <a:xfrm>
            <a:off x="11049415" y="218343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B13E0C-204E-65B5-C8D2-FF387A640D10}"/>
              </a:ext>
            </a:extLst>
          </p:cNvPr>
          <p:cNvSpPr txBox="1"/>
          <p:nvPr/>
        </p:nvSpPr>
        <p:spPr>
          <a:xfrm>
            <a:off x="11049415" y="218343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1.000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9953E6-00AC-7309-C407-B25AC70C4F8E}"/>
              </a:ext>
            </a:extLst>
          </p:cNvPr>
          <p:cNvSpPr/>
          <p:nvPr/>
        </p:nvSpPr>
        <p:spPr>
          <a:xfrm>
            <a:off x="7894735" y="259491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DD014F-64F8-3DBC-F5F5-8C63025DF49F}"/>
              </a:ext>
            </a:extLst>
          </p:cNvPr>
          <p:cNvSpPr txBox="1"/>
          <p:nvPr/>
        </p:nvSpPr>
        <p:spPr>
          <a:xfrm>
            <a:off x="7894735" y="259491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50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57A85A-48FA-CE70-B17D-29837B442AA9}"/>
              </a:ext>
            </a:extLst>
          </p:cNvPr>
          <p:cNvSpPr/>
          <p:nvPr/>
        </p:nvSpPr>
        <p:spPr>
          <a:xfrm>
            <a:off x="8534815" y="259491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9F6232-60C2-0131-7F13-8142EC032F01}"/>
              </a:ext>
            </a:extLst>
          </p:cNvPr>
          <p:cNvSpPr txBox="1"/>
          <p:nvPr/>
        </p:nvSpPr>
        <p:spPr>
          <a:xfrm>
            <a:off x="8534815" y="259491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CDCF8C-0D50-ABC6-06ED-61CE581C9BFB}"/>
              </a:ext>
            </a:extLst>
          </p:cNvPr>
          <p:cNvSpPr/>
          <p:nvPr/>
        </p:nvSpPr>
        <p:spPr>
          <a:xfrm>
            <a:off x="9174895" y="2594917"/>
            <a:ext cx="1005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A668E8-7364-F777-FA3E-8BC1CDAD6FE5}"/>
              </a:ext>
            </a:extLst>
          </p:cNvPr>
          <p:cNvSpPr txBox="1"/>
          <p:nvPr/>
        </p:nvSpPr>
        <p:spPr>
          <a:xfrm>
            <a:off x="9174895" y="2594917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1,101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31A164-C345-9278-2AB7-07B2B36A2E11}"/>
              </a:ext>
            </a:extLst>
          </p:cNvPr>
          <p:cNvSpPr/>
          <p:nvPr/>
        </p:nvSpPr>
        <p:spPr>
          <a:xfrm>
            <a:off x="10180735" y="259491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47C959-FF0E-1EB5-A1F6-9400959E3CAA}"/>
              </a:ext>
            </a:extLst>
          </p:cNvPr>
          <p:cNvSpPr txBox="1"/>
          <p:nvPr/>
        </p:nvSpPr>
        <p:spPr>
          <a:xfrm>
            <a:off x="10180735" y="259491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0.243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B55AD9-4F65-5BF1-AF07-7F0BA37341F5}"/>
              </a:ext>
            </a:extLst>
          </p:cNvPr>
          <p:cNvSpPr/>
          <p:nvPr/>
        </p:nvSpPr>
        <p:spPr>
          <a:xfrm>
            <a:off x="11049415" y="259491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17E0EF-4991-4877-D7C7-434724C372B7}"/>
              </a:ext>
            </a:extLst>
          </p:cNvPr>
          <p:cNvSpPr txBox="1"/>
          <p:nvPr/>
        </p:nvSpPr>
        <p:spPr>
          <a:xfrm>
            <a:off x="11049415" y="259491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0.663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DCB9DE7-7C0E-5B20-0C96-7A88806664E9}"/>
              </a:ext>
            </a:extLst>
          </p:cNvPr>
          <p:cNvSpPr/>
          <p:nvPr/>
        </p:nvSpPr>
        <p:spPr>
          <a:xfrm>
            <a:off x="7894735" y="3006397"/>
            <a:ext cx="640080" cy="411480"/>
          </a:xfrm>
          <a:prstGeom prst="rect">
            <a:avLst/>
          </a:prstGeom>
          <a:solidFill>
            <a:srgbClr val="F8F9FA"/>
          </a:solidFill>
          <a:ln w="9525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5224DD-83F2-6920-3525-C5BDA0533079}"/>
              </a:ext>
            </a:extLst>
          </p:cNvPr>
          <p:cNvSpPr txBox="1"/>
          <p:nvPr/>
        </p:nvSpPr>
        <p:spPr>
          <a:xfrm>
            <a:off x="7894735" y="300639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25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05734-33A4-D5E0-390A-9B8E3C5606A9}"/>
              </a:ext>
            </a:extLst>
          </p:cNvPr>
          <p:cNvSpPr/>
          <p:nvPr/>
        </p:nvSpPr>
        <p:spPr>
          <a:xfrm>
            <a:off x="8534815" y="3006397"/>
            <a:ext cx="640080" cy="411480"/>
          </a:xfrm>
          <a:prstGeom prst="rect">
            <a:avLst/>
          </a:prstGeom>
          <a:solidFill>
            <a:srgbClr val="F8F9FA"/>
          </a:solidFill>
          <a:ln w="9525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733B6E-B74E-ECDD-5758-82C6D91D3030}"/>
              </a:ext>
            </a:extLst>
          </p:cNvPr>
          <p:cNvSpPr txBox="1"/>
          <p:nvPr/>
        </p:nvSpPr>
        <p:spPr>
          <a:xfrm>
            <a:off x="8534815" y="300639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EA055D-75DC-5225-8B6A-D7ACF5481B10}"/>
              </a:ext>
            </a:extLst>
          </p:cNvPr>
          <p:cNvSpPr/>
          <p:nvPr/>
        </p:nvSpPr>
        <p:spPr>
          <a:xfrm>
            <a:off x="9174895" y="3006397"/>
            <a:ext cx="1005840" cy="411480"/>
          </a:xfrm>
          <a:prstGeom prst="rect">
            <a:avLst/>
          </a:prstGeom>
          <a:solidFill>
            <a:srgbClr val="F8F9FA"/>
          </a:solidFill>
          <a:ln w="9525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147FDD-8A63-35D7-082A-ADCE57A52AF0}"/>
              </a:ext>
            </a:extLst>
          </p:cNvPr>
          <p:cNvSpPr txBox="1"/>
          <p:nvPr/>
        </p:nvSpPr>
        <p:spPr>
          <a:xfrm>
            <a:off x="9174895" y="3006397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20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B124B12-731E-5F56-93A2-1EA4271497A6}"/>
              </a:ext>
            </a:extLst>
          </p:cNvPr>
          <p:cNvSpPr/>
          <p:nvPr/>
        </p:nvSpPr>
        <p:spPr>
          <a:xfrm>
            <a:off x="10180735" y="3006397"/>
            <a:ext cx="868680" cy="411480"/>
          </a:xfrm>
          <a:prstGeom prst="rect">
            <a:avLst/>
          </a:prstGeom>
          <a:solidFill>
            <a:srgbClr val="F8F9FA"/>
          </a:solidFill>
          <a:ln w="9525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7F852F-4015-A4B4-896F-87C75C7B8590}"/>
              </a:ext>
            </a:extLst>
          </p:cNvPr>
          <p:cNvSpPr txBox="1"/>
          <p:nvPr/>
        </p:nvSpPr>
        <p:spPr>
          <a:xfrm>
            <a:off x="10180735" y="300639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0.850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11FE0D-D992-BF63-9A79-8B31653F8632}"/>
              </a:ext>
            </a:extLst>
          </p:cNvPr>
          <p:cNvSpPr/>
          <p:nvPr/>
        </p:nvSpPr>
        <p:spPr>
          <a:xfrm>
            <a:off x="11049415" y="3006397"/>
            <a:ext cx="868680" cy="411480"/>
          </a:xfrm>
          <a:prstGeom prst="rect">
            <a:avLst/>
          </a:prstGeom>
          <a:solidFill>
            <a:srgbClr val="F8F9FA"/>
          </a:solidFill>
          <a:ln w="9525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4E01D4-1F9F-FCE4-AE33-B46EBB7FC01D}"/>
              </a:ext>
            </a:extLst>
          </p:cNvPr>
          <p:cNvSpPr txBox="1"/>
          <p:nvPr/>
        </p:nvSpPr>
        <p:spPr>
          <a:xfrm>
            <a:off x="11049415" y="300639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0.042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FD63329-9879-4C71-415E-8C41BD1B55CC}"/>
              </a:ext>
            </a:extLst>
          </p:cNvPr>
          <p:cNvSpPr/>
          <p:nvPr/>
        </p:nvSpPr>
        <p:spPr>
          <a:xfrm>
            <a:off x="7894735" y="341787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0B5A25-E4F6-830F-1478-67B555CED8CC}"/>
              </a:ext>
            </a:extLst>
          </p:cNvPr>
          <p:cNvSpPr txBox="1"/>
          <p:nvPr/>
        </p:nvSpPr>
        <p:spPr>
          <a:xfrm>
            <a:off x="7894735" y="341787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730D8C-228E-B7E1-7477-A29F6404042B}"/>
              </a:ext>
            </a:extLst>
          </p:cNvPr>
          <p:cNvSpPr/>
          <p:nvPr/>
        </p:nvSpPr>
        <p:spPr>
          <a:xfrm>
            <a:off x="8534815" y="341787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C13115-7E55-605A-6B40-CB7B1FEF20BB}"/>
              </a:ext>
            </a:extLst>
          </p:cNvPr>
          <p:cNvSpPr txBox="1"/>
          <p:nvPr/>
        </p:nvSpPr>
        <p:spPr>
          <a:xfrm>
            <a:off x="8534815" y="341787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868EC9-E2DD-BCC6-72E4-EB934143F993}"/>
              </a:ext>
            </a:extLst>
          </p:cNvPr>
          <p:cNvSpPr/>
          <p:nvPr/>
        </p:nvSpPr>
        <p:spPr>
          <a:xfrm>
            <a:off x="9174895" y="3417877"/>
            <a:ext cx="1005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E96DCC-4B9E-0A9F-18EF-4270064B609F}"/>
              </a:ext>
            </a:extLst>
          </p:cNvPr>
          <p:cNvSpPr txBox="1"/>
          <p:nvPr/>
        </p:nvSpPr>
        <p:spPr>
          <a:xfrm>
            <a:off x="9174895" y="3417877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5A1E3C-8B80-F052-6714-9A5B79C1C98B}"/>
              </a:ext>
            </a:extLst>
          </p:cNvPr>
          <p:cNvSpPr/>
          <p:nvPr/>
        </p:nvSpPr>
        <p:spPr>
          <a:xfrm>
            <a:off x="10180735" y="341787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A0DB66-F974-7A55-4D22-CBB99E3C8FE2}"/>
              </a:ext>
            </a:extLst>
          </p:cNvPr>
          <p:cNvSpPr txBox="1"/>
          <p:nvPr/>
        </p:nvSpPr>
        <p:spPr>
          <a:xfrm>
            <a:off x="10180735" y="341787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0.000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EC91A1E-2450-80AA-533D-1E6BD2017C1D}"/>
              </a:ext>
            </a:extLst>
          </p:cNvPr>
          <p:cNvSpPr/>
          <p:nvPr/>
        </p:nvSpPr>
        <p:spPr>
          <a:xfrm>
            <a:off x="11049415" y="341787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C48BCF-BEEE-8F8B-754F-7AEDE27679EE}"/>
              </a:ext>
            </a:extLst>
          </p:cNvPr>
          <p:cNvSpPr txBox="1"/>
          <p:nvPr/>
        </p:nvSpPr>
        <p:spPr>
          <a:xfrm>
            <a:off x="11049415" y="341787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0.000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1B602C-B0ED-9ED6-C17D-02CDE2E21492}"/>
              </a:ext>
            </a:extLst>
          </p:cNvPr>
          <p:cNvSpPr/>
          <p:nvPr/>
        </p:nvSpPr>
        <p:spPr>
          <a:xfrm>
            <a:off x="7894735" y="4051778"/>
            <a:ext cx="4023359" cy="12801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02681B-43B7-4918-AA8F-A13EBDE6E673}"/>
              </a:ext>
            </a:extLst>
          </p:cNvPr>
          <p:cNvSpPr txBox="1"/>
          <p:nvPr/>
        </p:nvSpPr>
        <p:spPr>
          <a:xfrm>
            <a:off x="7988894" y="4143218"/>
            <a:ext cx="378195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F4B400"/>
                </a:solidFill>
                <a:latin typeface="Calibri"/>
              </a:rPr>
              <a:t>Configuración</a:t>
            </a:r>
            <a:r>
              <a:rPr sz="1200" b="1" i="0" dirty="0">
                <a:solidFill>
                  <a:srgbClr val="F4B400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F4B400"/>
                </a:solidFill>
                <a:latin typeface="Calibri"/>
              </a:rPr>
              <a:t>óptima</a:t>
            </a:r>
            <a:endParaRPr sz="1200" b="1" i="0" dirty="0">
              <a:solidFill>
                <a:srgbClr val="F4B400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FD8EF9-CE9A-DEFC-473F-CC259158EF73}"/>
              </a:ext>
            </a:extLst>
          </p:cNvPr>
          <p:cNvSpPr txBox="1"/>
          <p:nvPr/>
        </p:nvSpPr>
        <p:spPr>
          <a:xfrm>
            <a:off x="7988894" y="4508978"/>
            <a:ext cx="378195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/>
              </a:rPr>
              <a:t>b = 25  ·  r = 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5C2EE8-3EF8-6771-F2BC-C4DA24977436}"/>
              </a:ext>
            </a:extLst>
          </p:cNvPr>
          <p:cNvSpPr txBox="1"/>
          <p:nvPr/>
        </p:nvSpPr>
        <p:spPr>
          <a:xfrm>
            <a:off x="7988894" y="4966178"/>
            <a:ext cx="378195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 dirty="0" err="1">
                <a:solidFill>
                  <a:srgbClr val="CADCFC"/>
                </a:solidFill>
                <a:latin typeface="Calibri"/>
              </a:rPr>
              <a:t>Precisión</a:t>
            </a:r>
            <a:r>
              <a:rPr sz="1000" b="0" i="1" dirty="0">
                <a:solidFill>
                  <a:srgbClr val="CADCFC"/>
                </a:solidFill>
                <a:latin typeface="Calibri"/>
              </a:rPr>
              <a:t> 0.85 · punto </a:t>
            </a:r>
            <a:r>
              <a:rPr sz="1000" b="0" i="1" dirty="0" err="1">
                <a:solidFill>
                  <a:srgbClr val="CADCFC"/>
                </a:solidFill>
                <a:latin typeface="Calibri"/>
              </a:rPr>
              <a:t>más</a:t>
            </a:r>
            <a:r>
              <a:rPr sz="1000" b="0" i="1" dirty="0">
                <a:solidFill>
                  <a:srgbClr val="CADCFC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CADCFC"/>
                </a:solidFill>
                <a:latin typeface="Calibri"/>
              </a:rPr>
              <a:t>alejado</a:t>
            </a:r>
            <a:r>
              <a:rPr sz="1000" b="0" i="1" dirty="0">
                <a:solidFill>
                  <a:srgbClr val="CADCFC"/>
                </a:solidFill>
                <a:latin typeface="Calibri"/>
              </a:rPr>
              <a:t> del </a:t>
            </a:r>
            <a:r>
              <a:rPr sz="1000" b="0" i="1" dirty="0" err="1">
                <a:solidFill>
                  <a:srgbClr val="CADCFC"/>
                </a:solidFill>
                <a:latin typeface="Calibri"/>
              </a:rPr>
              <a:t>origen</a:t>
            </a:r>
            <a:endParaRPr sz="1000" b="0" i="1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72CBF9A-9F5F-07BC-657C-534E565A247D}"/>
              </a:ext>
            </a:extLst>
          </p:cNvPr>
          <p:cNvSpPr txBox="1"/>
          <p:nvPr/>
        </p:nvSpPr>
        <p:spPr>
          <a:xfrm>
            <a:off x="502920" y="5643153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dirty="0">
                <a:solidFill>
                  <a:srgbClr val="595959"/>
                </a:solidFill>
                <a:latin typeface="Calibri"/>
              </a:rPr>
              <a:t>El trade-off es inevitable: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muchas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bandas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→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más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recall,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menos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precisión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;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pocas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bandas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→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más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precisión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,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menos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recall. La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elección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depende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del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objetivo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del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producto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9B5826-36A7-BDAA-B958-7059D4D27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05" y="1844536"/>
            <a:ext cx="7415830" cy="283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60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CDD10-0ACF-463E-13CE-257036054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75FA42-D1AA-910E-F539-7A7A783DDAC2}"/>
              </a:ext>
            </a:extLst>
          </p:cNvPr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E8CAC-52A9-F6DF-E903-443545D0252A}"/>
              </a:ext>
            </a:extLst>
          </p:cNvPr>
          <p:cNvSpPr txBox="1"/>
          <p:nvPr/>
        </p:nvSpPr>
        <p:spPr>
          <a:xfrm>
            <a:off x="640080" y="411480"/>
            <a:ext cx="1051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864"/>
                </a:solidFill>
                <a:latin typeface="Calibri"/>
              </a:rPr>
              <a:t>Fase 3 · </a:t>
            </a:r>
            <a:r>
              <a:rPr lang="en-US" sz="2800" b="1" i="0" dirty="0">
                <a:solidFill>
                  <a:srgbClr val="1F3864"/>
                </a:solidFill>
                <a:latin typeface="Calibri"/>
              </a:rPr>
              <a:t>Consulta</a:t>
            </a:r>
            <a:endParaRPr sz="2800" b="1" i="0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F8F9C-13ED-2FC3-5884-66663F69D8FE}"/>
              </a:ext>
            </a:extLst>
          </p:cNvPr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 dirty="0">
                <a:solidFill>
                  <a:srgbClr val="595959"/>
                </a:solidFill>
                <a:latin typeface="Calibri"/>
              </a:rPr>
              <a:t>Proyecto 1 · Data Mining UTEC · </a:t>
            </a:r>
            <a:r>
              <a:rPr sz="900" b="0" i="1" dirty="0" err="1">
                <a:solidFill>
                  <a:srgbClr val="595959"/>
                </a:solidFill>
                <a:latin typeface="Calibri"/>
              </a:rPr>
              <a:t>MovieLens</a:t>
            </a:r>
            <a:r>
              <a:rPr sz="900" b="0" i="1" dirty="0">
                <a:solidFill>
                  <a:srgbClr val="595959"/>
                </a:solidFill>
                <a:latin typeface="Calibri"/>
              </a:rPr>
              <a:t> 20M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2796384F-DF95-FA87-96B4-7E35B2CD0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432" y="937687"/>
            <a:ext cx="9229344" cy="539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357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F3864"/>
                </a:solidFill>
                <a:latin typeface="Calibri"/>
              </a:rPr>
              <a:t>Fase 4 ·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Apriori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local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sobre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muestra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justificada</a:t>
            </a:r>
            <a:endParaRPr sz="28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70332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1554480"/>
            <a:ext cx="3429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50 % </a:t>
            </a:r>
            <a:r>
              <a:rPr sz="3000" b="1" dirty="0" err="1">
                <a:solidFill>
                  <a:srgbClr val="1F3864"/>
                </a:solidFill>
                <a:latin typeface="Calibri"/>
              </a:rPr>
              <a:t>muestra</a:t>
            </a:r>
            <a:endParaRPr sz="30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342900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Calibri"/>
              </a:rPr>
              <a:t>≈68K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transacciones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· seed=42 ·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Hoeffding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garantiza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pérdida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≤10⁻⁶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365760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1417320"/>
            <a:ext cx="731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55448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3,418 </a:t>
            </a:r>
            <a:r>
              <a:rPr sz="3000" b="1" dirty="0" err="1">
                <a:solidFill>
                  <a:srgbClr val="1F3864"/>
                </a:solidFill>
                <a:latin typeface="Calibri"/>
              </a:rPr>
              <a:t>reglas</a:t>
            </a:r>
            <a:endParaRPr sz="30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34840" y="2194560"/>
            <a:ext cx="33832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Calibri"/>
              </a:rPr>
              <a:t>conf ≥ 0.5 · lift &gt; 1 · MIN_SUPPORT = 0.05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417320"/>
            <a:ext cx="3749039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1417320"/>
            <a:ext cx="731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59" y="155448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30.8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194560"/>
            <a:ext cx="347472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Apriori puro en Python · 16 GB RAM · sin Spark</a:t>
            </a:r>
          </a:p>
        </p:txBody>
      </p:sp>
      <p:pic>
        <p:nvPicPr>
          <p:cNvPr id="19" name="Picture 18" descr="16_saturacion_muestr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26" y="2926079"/>
            <a:ext cx="5870448" cy="32946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17220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Calibri"/>
              </a:rPr>
              <a:t>Curva de saturación · validación empírica del muestreo (Hoeffding)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926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Por qué 50 % es óptimo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3832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Calibri"/>
              </a:rPr>
              <a:t>Validación dual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657600"/>
            <a:ext cx="41148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Teórica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(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Hoeffding</a:t>
            </a:r>
            <a:r>
              <a:rPr sz="1100" dirty="0">
                <a:solidFill>
                  <a:srgbClr val="595959"/>
                </a:solidFill>
                <a:latin typeface="Calibri"/>
              </a:rPr>
              <a:t>): para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μ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≥ 0.06 la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probabilidad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de no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detectar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la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regla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es ≤ 1.1×10⁻⁶.</a:t>
            </a:r>
          </a:p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Empírica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: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Apriori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sobre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100 % de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usuarios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da 3,415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vs 3,418 con 50 % —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diferencia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de 3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(0.09 %).</a:t>
            </a:r>
          </a:p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Limitamos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a k = 2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por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costo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O(n · |basket|^k): k=3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sería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~7 min, k=5 inviable.</a:t>
            </a:r>
          </a:p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Las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binarias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A → B son las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más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interpretables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un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recomendador</a:t>
            </a:r>
            <a:r>
              <a:rPr sz="11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DD4A09-4789-CD42-E4EC-B09623BE8055}"/>
              </a:ext>
            </a:extLst>
          </p:cNvPr>
          <p:cNvSpPr/>
          <p:nvPr/>
        </p:nvSpPr>
        <p:spPr>
          <a:xfrm>
            <a:off x="457200" y="370510"/>
            <a:ext cx="9144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12AA1D-2B86-F3BB-6A44-2412CDC734A5}"/>
              </a:ext>
            </a:extLst>
          </p:cNvPr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Fase 4 · Apriori — Top reglas por lift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DAF54-2E1A-A013-F509-CCEBF2E86B08}"/>
              </a:ext>
            </a:extLst>
          </p:cNvPr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4B8DB-AEAD-6877-C192-021841358427}"/>
              </a:ext>
            </a:extLst>
          </p:cNvPr>
          <p:cNvSpPr txBox="1"/>
          <p:nvPr/>
        </p:nvSpPr>
        <p:spPr>
          <a:xfrm>
            <a:off x="9765936" y="129436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1F3864"/>
                </a:solidFill>
                <a:latin typeface="Calibri"/>
              </a:rPr>
              <a:t>Resultados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F3864"/>
                </a:solidFill>
                <a:latin typeface="Calibri"/>
              </a:rPr>
              <a:t>Apriori</a:t>
            </a:r>
            <a:endParaRPr sz="14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BDBFE2-FC38-2A64-F08B-45901FB450CC}"/>
              </a:ext>
            </a:extLst>
          </p:cNvPr>
          <p:cNvSpPr txBox="1"/>
          <p:nvPr/>
        </p:nvSpPr>
        <p:spPr>
          <a:xfrm>
            <a:off x="9765935" y="1726048"/>
            <a:ext cx="3200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dirty="0" err="1">
                <a:solidFill>
                  <a:srgbClr val="1F3864"/>
                </a:solidFill>
                <a:latin typeface="Calibri"/>
              </a:rPr>
              <a:t>Configuración</a:t>
            </a:r>
            <a:endParaRPr sz="1100" b="1" dirty="0">
              <a:solidFill>
                <a:srgbClr val="1F3864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000" b="0" dirty="0">
                <a:solidFill>
                  <a:srgbClr val="595959"/>
                </a:solidFill>
                <a:latin typeface="Calibri"/>
              </a:rPr>
              <a:t>•  68,464 </a:t>
            </a:r>
            <a:r>
              <a:rPr sz="1000" b="0" dirty="0" err="1">
                <a:solidFill>
                  <a:srgbClr val="595959"/>
                </a:solidFill>
                <a:latin typeface="Calibri"/>
              </a:rPr>
              <a:t>transacciones</a:t>
            </a:r>
            <a:r>
              <a:rPr sz="1000" b="0" dirty="0">
                <a:solidFill>
                  <a:srgbClr val="595959"/>
                </a:solidFill>
                <a:latin typeface="Calibri"/>
              </a:rPr>
              <a:t> (50 %)</a:t>
            </a:r>
          </a:p>
          <a:p>
            <a:pPr algn="l">
              <a:spcBef>
                <a:spcPts val="100"/>
              </a:spcBef>
            </a:pPr>
            <a:r>
              <a:rPr sz="1000" b="0" dirty="0">
                <a:solidFill>
                  <a:srgbClr val="595959"/>
                </a:solidFill>
                <a:latin typeface="Calibri"/>
              </a:rPr>
              <a:t>•  590 </a:t>
            </a:r>
            <a:r>
              <a:rPr sz="1000" b="0" dirty="0" err="1">
                <a:solidFill>
                  <a:srgbClr val="595959"/>
                </a:solidFill>
                <a:latin typeface="Calibri"/>
              </a:rPr>
              <a:t>películas</a:t>
            </a:r>
            <a:r>
              <a:rPr sz="1000" b="0" dirty="0">
                <a:solidFill>
                  <a:srgbClr val="595959"/>
                </a:solidFill>
                <a:latin typeface="Calibri"/>
              </a:rPr>
              <a:t> (≥5,000 likes)</a:t>
            </a:r>
          </a:p>
          <a:p>
            <a:pPr algn="l">
              <a:spcBef>
                <a:spcPts val="100"/>
              </a:spcBef>
            </a:pPr>
            <a:r>
              <a:rPr sz="1000" b="0" dirty="0">
                <a:solidFill>
                  <a:srgbClr val="595959"/>
                </a:solidFill>
                <a:latin typeface="Calibri"/>
              </a:rPr>
              <a:t>•  sup ≥ 0.05  ·  conf ≥ 0.5</a:t>
            </a:r>
          </a:p>
          <a:p>
            <a:pPr algn="l">
              <a:spcBef>
                <a:spcPts val="100"/>
              </a:spcBef>
            </a:pPr>
            <a:r>
              <a:rPr sz="1000" b="0" dirty="0">
                <a:solidFill>
                  <a:srgbClr val="595959"/>
                </a:solidFill>
                <a:latin typeface="Calibri"/>
              </a:rPr>
              <a:t>•  ~30 s sin Spark, sin OOM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ED7AF-9E5A-D6F5-D2FB-35DD08714C86}"/>
              </a:ext>
            </a:extLst>
          </p:cNvPr>
          <p:cNvSpPr txBox="1"/>
          <p:nvPr/>
        </p:nvSpPr>
        <p:spPr>
          <a:xfrm>
            <a:off x="8844692" y="3163570"/>
            <a:ext cx="32004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 dirty="0">
                <a:solidFill>
                  <a:srgbClr val="1F3864"/>
                </a:solidFill>
                <a:latin typeface="Calibri"/>
              </a:rPr>
              <a:t>3,418</a:t>
            </a:r>
          </a:p>
          <a:p>
            <a:pPr algn="ctr"/>
            <a:r>
              <a:rPr sz="1000" b="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0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Calibri"/>
              </a:rPr>
              <a:t>binarias</a:t>
            </a:r>
            <a:r>
              <a:rPr sz="1000" b="0" dirty="0">
                <a:solidFill>
                  <a:srgbClr val="595959"/>
                </a:solidFill>
                <a:latin typeface="Calibri"/>
              </a:rPr>
              <a:t> robustas</a:t>
            </a:r>
          </a:p>
          <a:p>
            <a:pPr algn="ctr"/>
            <a:r>
              <a:rPr sz="900" b="0" dirty="0">
                <a:solidFill>
                  <a:srgbClr val="595959"/>
                </a:solidFill>
                <a:latin typeface="Calibri"/>
              </a:rPr>
              <a:t>con lift &gt; 1 y confianza ≥ 0.5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585D24-13D2-4FE2-F496-217384D678CD}"/>
              </a:ext>
            </a:extLst>
          </p:cNvPr>
          <p:cNvSpPr txBox="1"/>
          <p:nvPr/>
        </p:nvSpPr>
        <p:spPr>
          <a:xfrm>
            <a:off x="457200" y="5303520"/>
            <a:ext cx="11338560" cy="6052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1F3864"/>
                </a:solidFill>
                <a:latin typeface="Calibri"/>
              </a:rPr>
              <a:t>Hallazgo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 clave</a:t>
            </a:r>
          </a:p>
          <a:p>
            <a:pPr>
              <a:spcBef>
                <a:spcPts val="400"/>
              </a:spcBef>
            </a:pPr>
            <a:r>
              <a:rPr sz="1100" b="0" dirty="0">
                <a:solidFill>
                  <a:srgbClr val="595959"/>
                </a:solidFill>
                <a:latin typeface="Calibri"/>
              </a:rPr>
              <a:t>El lift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funciona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como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detector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automático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de sagas y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franquicias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: Harry Potter</a:t>
            </a:r>
            <a:r>
              <a:rPr lang="en-PE" sz="1100" b="0" dirty="0">
                <a:solidFill>
                  <a:srgbClr val="595959"/>
                </a:solidFill>
                <a:latin typeface="Calibri"/>
              </a:rPr>
              <a:t> (9.15)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, </a:t>
            </a:r>
            <a:r>
              <a:rPr lang="en-US" sz="1100" dirty="0">
                <a:solidFill>
                  <a:srgbClr val="595959"/>
                </a:solidFill>
              </a:rPr>
              <a:t>Wallace &amp; Gromit </a:t>
            </a:r>
            <a:r>
              <a:rPr lang="en-PE" sz="1100" dirty="0">
                <a:solidFill>
                  <a:srgbClr val="595959"/>
                </a:solidFill>
              </a:rPr>
              <a:t>(8.19)</a:t>
            </a:r>
            <a:r>
              <a:rPr lang="en-PE"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y Bourne</a:t>
            </a:r>
            <a:r>
              <a:rPr lang="en-US" sz="1100" dirty="0">
                <a:solidFill>
                  <a:srgbClr val="595959"/>
                </a:solidFill>
              </a:rPr>
              <a:t> (7.02)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dominan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primeros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lugares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. Las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entre blockbusters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genéricos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tienen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alta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confianza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pero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lift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modesto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—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ilustran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el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trade-off confianza vs lift.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6948AA-F00E-24BB-0A65-1E6C4F2C5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08" y="1188720"/>
            <a:ext cx="9282100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93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438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F3864"/>
                </a:solidFill>
                <a:latin typeface="Calibri"/>
              </a:rPr>
              <a:t>Fase 4 · FP-Growth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descubre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patrones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que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Apriori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15_distribucion_k_item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417320"/>
            <a:ext cx="7104888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57784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Calibri"/>
              </a:rPr>
              <a:t>Itemsets por tamaño k · Apriori (k≤2) vs FP-Growth (k≤5)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F3864"/>
                </a:solidFill>
                <a:latin typeface="Calibri"/>
              </a:rPr>
              <a:t>Apples-to-apples (</a:t>
            </a:r>
            <a:r>
              <a:rPr sz="1500" b="1" dirty="0" err="1">
                <a:solidFill>
                  <a:srgbClr val="1F3864"/>
                </a:solidFill>
                <a:latin typeface="Calibri"/>
              </a:rPr>
              <a:t>mismos</a:t>
            </a:r>
            <a:r>
              <a:rPr sz="15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3864"/>
                </a:solidFill>
                <a:latin typeface="Calibri"/>
              </a:rPr>
              <a:t>parámetros</a:t>
            </a:r>
            <a:r>
              <a:rPr sz="1500" b="1" dirty="0">
                <a:solidFill>
                  <a:srgbClr val="1F3864"/>
                </a:solidFill>
                <a:latin typeface="Calibri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920240"/>
            <a:ext cx="41148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80960" y="1920240"/>
            <a:ext cx="731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05740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0.5 s 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517432"/>
            <a:ext cx="3840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Calibri"/>
              </a:rPr>
              <a:t>FP-Growth · 3.7×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más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rápido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Apriori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(1.84 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926080"/>
            <a:ext cx="41148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2926080"/>
            <a:ext cx="731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06324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695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497581"/>
            <a:ext cx="3840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595959"/>
                </a:solidFill>
                <a:latin typeface="Calibri"/>
              </a:rPr>
              <a:t>itemsets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de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tamaño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k ≥ 3 (hasta k=5)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Apriori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no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encuentra</a:t>
            </a:r>
            <a:endParaRPr sz="1100" b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80960" y="3931920"/>
            <a:ext cx="41148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80960" y="3931920"/>
            <a:ext cx="731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4012436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2,674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434840"/>
            <a:ext cx="3840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con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antecedente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compuesto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· {LOTR1, LOTR2} → LOTR3 con conf ≈ 0.90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0292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Calibri"/>
              </a:rPr>
              <a:t>Conclusión rigurosa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53035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Diferencias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100 %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atribuibles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al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algoritmo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(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parámetros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idénticos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).</a:t>
            </a:r>
          </a:p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Apriori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y FP-Growth son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complementarios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— no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compiten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,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exploran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espacios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distintos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del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problema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555E-65E8-1346-77FE-68D72AF7C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75D17B-97B5-73F1-8870-E8D28C7DCBDB}"/>
              </a:ext>
            </a:extLst>
          </p:cNvPr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C7C3EF-A497-A306-6F29-CE41E21EC77B}"/>
              </a:ext>
            </a:extLst>
          </p:cNvPr>
          <p:cNvSpPr txBox="1"/>
          <p:nvPr/>
        </p:nvSpPr>
        <p:spPr>
          <a:xfrm>
            <a:off x="640080" y="411480"/>
            <a:ext cx="10515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F3864"/>
                </a:solidFill>
                <a:latin typeface="Calibri"/>
              </a:rPr>
              <a:t>Fase 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4D955-618A-A4AC-06B5-9271093E4E74}"/>
              </a:ext>
            </a:extLst>
          </p:cNvPr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C41C6BF-53F0-71F3-935A-5477D55AA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734" y="406934"/>
            <a:ext cx="7423658" cy="603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10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F3864"/>
                </a:solidFill>
                <a:latin typeface="Calibri"/>
              </a:rPr>
              <a:t>Fase 4 · El insight: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reglas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cross-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género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que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la metadata no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predice</a:t>
            </a:r>
            <a:endParaRPr sz="28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17_cross_vs_intra_gen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715176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57784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Calibri"/>
              </a:rPr>
              <a:t>Reglas por bucket de lift · desglose intra-género vs cross-género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 err="1">
                <a:solidFill>
                  <a:srgbClr val="1F3864"/>
                </a:solidFill>
                <a:latin typeface="Calibri"/>
              </a:rPr>
              <a:t>Hallazgo</a:t>
            </a:r>
            <a:r>
              <a:rPr sz="15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3864"/>
                </a:solidFill>
                <a:latin typeface="Calibri"/>
              </a:rPr>
              <a:t>único</a:t>
            </a:r>
            <a:r>
              <a:rPr sz="1500" b="1" dirty="0">
                <a:solidFill>
                  <a:srgbClr val="1F3864"/>
                </a:solidFill>
                <a:latin typeface="Calibri"/>
              </a:rPr>
              <a:t> del </a:t>
            </a:r>
            <a:r>
              <a:rPr sz="1500" b="1" dirty="0" err="1">
                <a:solidFill>
                  <a:srgbClr val="1F3864"/>
                </a:solidFill>
                <a:latin typeface="Calibri"/>
              </a:rPr>
              <a:t>proyecto</a:t>
            </a:r>
            <a:endParaRPr sz="15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80960" y="1920240"/>
            <a:ext cx="41148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80960" y="1920240"/>
            <a:ext cx="731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1992664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67 % / 33 %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511364"/>
            <a:ext cx="3840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Calibri"/>
              </a:rPr>
              <a:t>intra-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género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/ cross-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género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· 1,126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cruzan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géneros</a:t>
            </a:r>
            <a:endParaRPr sz="1100" b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80960" y="2926080"/>
            <a:ext cx="41148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2926080"/>
            <a:ext cx="731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990412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492928"/>
            <a:ext cx="3840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cross-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género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con lift &gt; 3 —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patrones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no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triviales</a:t>
            </a:r>
            <a:endParaRPr sz="1100" b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80960" y="39319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Top ejemplos cross-género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0824" y="4278664"/>
            <a:ext cx="41148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1F3864"/>
                </a:solidFill>
                <a:latin typeface="Calibri"/>
              </a:rPr>
              <a:t>• WALL·E → Dark Knight </a:t>
            </a:r>
            <a:r>
              <a:rPr sz="900" dirty="0">
                <a:solidFill>
                  <a:srgbClr val="595959"/>
                </a:solidFill>
                <a:latin typeface="Calibri"/>
              </a:rPr>
              <a:t>(lift 5.28)</a:t>
            </a:r>
          </a:p>
          <a:p>
            <a:r>
              <a:rPr sz="900" i="1" dirty="0">
                <a:solidFill>
                  <a:srgbClr val="595959"/>
                </a:solidFill>
                <a:latin typeface="Calibri"/>
              </a:rPr>
              <a:t>  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animación</a:t>
            </a:r>
            <a:r>
              <a:rPr sz="900" i="1" dirty="0">
                <a:solidFill>
                  <a:srgbClr val="595959"/>
                </a:solidFill>
                <a:latin typeface="Calibri"/>
              </a:rPr>
              <a:t> familiar →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acción</a:t>
            </a:r>
            <a:r>
              <a:rPr sz="9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adulta</a:t>
            </a:r>
            <a:r>
              <a:rPr sz="900" i="1" dirty="0">
                <a:solidFill>
                  <a:srgbClr val="595959"/>
                </a:solidFill>
                <a:latin typeface="Calibri"/>
              </a:rPr>
              <a:t> · ambas 2008</a:t>
            </a:r>
          </a:p>
          <a:p>
            <a:r>
              <a:rPr sz="1000" b="1" dirty="0">
                <a:solidFill>
                  <a:srgbClr val="1F3864"/>
                </a:solidFill>
                <a:latin typeface="Calibri"/>
              </a:rPr>
              <a:t>• Vertigo → Psycho </a:t>
            </a:r>
            <a:r>
              <a:rPr sz="900" dirty="0">
                <a:solidFill>
                  <a:srgbClr val="595959"/>
                </a:solidFill>
                <a:latin typeface="Calibri"/>
              </a:rPr>
              <a:t>(lift 4.94)</a:t>
            </a:r>
          </a:p>
          <a:p>
            <a:r>
              <a:rPr sz="900" i="1" dirty="0">
                <a:solidFill>
                  <a:srgbClr val="595959"/>
                </a:solidFill>
                <a:latin typeface="Calibri"/>
              </a:rPr>
              <a:t>   Hitchcock director ·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ningún</a:t>
            </a:r>
            <a:r>
              <a:rPr sz="9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género</a:t>
            </a:r>
            <a:r>
              <a:rPr sz="900" i="1" dirty="0">
                <a:solidFill>
                  <a:srgbClr val="595959"/>
                </a:solidFill>
                <a:latin typeface="Calibri"/>
              </a:rPr>
              <a:t> lo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predice</a:t>
            </a:r>
            <a:endParaRPr sz="900" i="1" dirty="0">
              <a:solidFill>
                <a:srgbClr val="595959"/>
              </a:solidFill>
              <a:latin typeface="Calibri"/>
            </a:endParaRPr>
          </a:p>
          <a:p>
            <a:r>
              <a:rPr sz="1000" b="1" dirty="0">
                <a:solidFill>
                  <a:srgbClr val="1F3864"/>
                </a:solidFill>
                <a:latin typeface="Calibri"/>
              </a:rPr>
              <a:t>• </a:t>
            </a:r>
            <a:r>
              <a:rPr sz="900" dirty="0">
                <a:solidFill>
                  <a:srgbClr val="595959"/>
                </a:solidFill>
                <a:latin typeface="Calibri"/>
              </a:rPr>
              <a:t>4</a:t>
            </a:r>
            <a:r>
              <a:rPr lang="en-US" sz="900" b="1" dirty="0">
                <a:solidFill>
                  <a:srgbClr val="1F3864"/>
                </a:solidFill>
              </a:rPr>
              <a:t>Maltese Falcon → Casablanca </a:t>
            </a:r>
            <a:r>
              <a:rPr lang="en-US" sz="800" dirty="0">
                <a:solidFill>
                  <a:srgbClr val="595959"/>
                </a:solidFill>
              </a:rPr>
              <a:t>(lift </a:t>
            </a:r>
            <a:r>
              <a:rPr sz="900" dirty="0">
                <a:solidFill>
                  <a:srgbClr val="595959"/>
                </a:solidFill>
                <a:latin typeface="Calibri"/>
              </a:rPr>
              <a:t>.42)</a:t>
            </a:r>
          </a:p>
          <a:p>
            <a:r>
              <a:rPr sz="900" i="1" dirty="0">
                <a:solidFill>
                  <a:srgbClr val="595959"/>
                </a:solidFill>
                <a:latin typeface="Calibri"/>
              </a:rPr>
              <a:t>   cine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clásico</a:t>
            </a:r>
            <a:r>
              <a:rPr sz="9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años</a:t>
            </a:r>
            <a:r>
              <a:rPr sz="900" i="1" dirty="0">
                <a:solidFill>
                  <a:srgbClr val="595959"/>
                </a:solidFill>
                <a:latin typeface="Calibri"/>
              </a:rPr>
              <a:t> 40 · </a:t>
            </a:r>
            <a:r>
              <a:rPr sz="900" i="1" dirty="0" err="1">
                <a:solidFill>
                  <a:srgbClr val="595959"/>
                </a:solidFill>
                <a:latin typeface="Calibri"/>
              </a:rPr>
              <a:t>curaduría</a:t>
            </a:r>
            <a:r>
              <a:rPr sz="900" i="1" dirty="0">
                <a:solidFill>
                  <a:srgbClr val="595959"/>
                </a:solidFill>
                <a:latin typeface="Calibri"/>
              </a:rPr>
              <a:t> humana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78459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rgbClr val="1F3864"/>
                </a:solidFill>
                <a:latin typeface="Calibri"/>
              </a:rPr>
              <a:t>Argumento</a:t>
            </a:r>
            <a:r>
              <a:rPr sz="12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F3864"/>
                </a:solidFill>
                <a:latin typeface="Calibri"/>
              </a:rPr>
              <a:t>defensivo</a:t>
            </a:r>
            <a:endParaRPr sz="12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605891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Sin metadata, las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detectan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curaduría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humana (director, audiencia,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año</a:t>
            </a:r>
            <a:r>
              <a:rPr sz="1100" dirty="0">
                <a:solidFill>
                  <a:srgbClr val="595959"/>
                </a:solidFill>
                <a:latin typeface="Calibri"/>
              </a:rPr>
              <a:t>). Netflix/Spotify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capturan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exactamente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esto</a:t>
            </a:r>
            <a:r>
              <a:rPr sz="11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CFE44E-C07B-8883-312E-23E1EE256650}"/>
              </a:ext>
            </a:extLst>
          </p:cNvPr>
          <p:cNvSpPr/>
          <p:nvPr/>
        </p:nvSpPr>
        <p:spPr>
          <a:xfrm>
            <a:off x="0" y="-179372"/>
            <a:ext cx="12191695" cy="7216743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9453" y="404946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57328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16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183"/>
            <a:ext cx="5577840" cy="169417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1654" y="1170183"/>
            <a:ext cx="73152" cy="169417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398783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98783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Exactitud vs eficiencia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8863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595959"/>
                </a:solidFill>
                <a:latin typeface="Calibri"/>
              </a:rPr>
              <a:t>Comparar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todas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las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películas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con Jaccard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exacto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cuesta O(N²) ≈ 365M pares para 27K.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MinHash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+ LSH lo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bajan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a O(N)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candidatos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perdiendo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solo 0.01 de error medio. La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aproximación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es viable.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70183"/>
            <a:ext cx="5577840" cy="169417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170183"/>
            <a:ext cx="73152" cy="169417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40" y="1398783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398783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FP vs FN en producción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38863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Un FP recomienda algo que no se consume (costo bajo). Un FN deja de recomendar algo que gustaría (costo alto, pierde engagement). El balance se afina con b según el objetivo: descubrimiento (b alto) vs curaduría (b bajo).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79209"/>
            <a:ext cx="5577840" cy="169417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0579" y="2979209"/>
            <a:ext cx="73152" cy="169417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" y="320780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07809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¿Cuándo usar Spark?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47889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95959"/>
                </a:solidFill>
                <a:latin typeface="Calibri"/>
              </a:rPr>
              <a:t>Con 20M ratings, pandas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puede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funcionar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M1 con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cuidado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pero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no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escala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a 200M+. Spark se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justifica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cuando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datos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no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caben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RAM, se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requiere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paralelismo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SQL real, o se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quiere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portabilidad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a un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clúster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productivo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979209"/>
            <a:ext cx="5577840" cy="169417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2979209"/>
            <a:ext cx="73152" cy="169417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92240" y="320780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207809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Aplicabilidad real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847889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El pipeline Jaccard → MinHash → LSH es exactamente lo que usa Netflix para encontrar películas similares, Spotify para canciones y Amazon para productos. La representación por usuarios con like es agnóstica de features.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763776"/>
            <a:ext cx="557784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964241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5  </a:t>
            </a:r>
            <a:r>
              <a:rPr sz="3000" b="1" dirty="0" err="1">
                <a:solidFill>
                  <a:srgbClr val="1F3864"/>
                </a:solidFill>
                <a:latin typeface="Calibri"/>
              </a:rPr>
              <a:t>Cuellos</a:t>
            </a:r>
            <a:r>
              <a:rPr sz="30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F3864"/>
                </a:solidFill>
                <a:latin typeface="Calibri"/>
              </a:rPr>
              <a:t>Apriori</a:t>
            </a:r>
            <a:endParaRPr sz="30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5604321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Calibri"/>
              </a:rPr>
              <a:t>Costo O(n · |basket|^k) — k=2 son 84M ops (30s); k=3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escalaría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a ~1.3 G ops (~7min).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Limitamos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por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costo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, no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por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algoritmo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742019"/>
            <a:ext cx="557784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4879179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6  Spark vs local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519259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Calibri"/>
              </a:rPr>
              <a:t>Spark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gana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solo con cluster real o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datos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sin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filtrar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.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Sobre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datos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pre-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filtrados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(590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pelis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, 68K trans),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Apriori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puro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corre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en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30s sin overhead.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32988-1E22-6C12-00DC-E4736C1B1109}"/>
              </a:ext>
            </a:extLst>
          </p:cNvPr>
          <p:cNvSpPr txBox="1"/>
          <p:nvPr/>
        </p:nvSpPr>
        <p:spPr>
          <a:xfrm>
            <a:off x="685800" y="386322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b="1" i="0" dirty="0" err="1">
                <a:solidFill>
                  <a:srgbClr val="F4B400"/>
                </a:solidFill>
                <a:latin typeface="Calibri"/>
              </a:rPr>
              <a:t>Discusión</a:t>
            </a:r>
            <a:r>
              <a:rPr lang="en-US" sz="3200" b="1" i="0" dirty="0">
                <a:solidFill>
                  <a:srgbClr val="F4B400"/>
                </a:solidFill>
                <a:latin typeface="Calibri"/>
              </a:rPr>
              <a:t> </a:t>
            </a:r>
            <a:r>
              <a:rPr lang="en-US" sz="3200" b="1" i="0" dirty="0" err="1">
                <a:solidFill>
                  <a:srgbClr val="F4B400"/>
                </a:solidFill>
                <a:latin typeface="Calibri"/>
              </a:rPr>
              <a:t>crítica</a:t>
            </a:r>
            <a:endParaRPr sz="3200" b="1" i="0" dirty="0">
              <a:solidFill>
                <a:srgbClr val="F4B400"/>
              </a:solidFill>
              <a:latin typeface="Calibri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AA9273-45BB-2FBA-25EF-7E0463E210C9}"/>
              </a:ext>
            </a:extLst>
          </p:cNvPr>
          <p:cNvSpPr/>
          <p:nvPr/>
        </p:nvSpPr>
        <p:spPr>
          <a:xfrm>
            <a:off x="480579" y="4763776"/>
            <a:ext cx="73152" cy="13716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A17E74A-7DA4-9E5A-8AEF-F51E05241F12}"/>
              </a:ext>
            </a:extLst>
          </p:cNvPr>
          <p:cNvSpPr/>
          <p:nvPr/>
        </p:nvSpPr>
        <p:spPr>
          <a:xfrm>
            <a:off x="6263640" y="4742019"/>
            <a:ext cx="73152" cy="13716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2992</TotalTime>
  <Words>2123</Words>
  <Application>Microsoft Macintosh PowerPoint</Application>
  <PresentationFormat>Widescreen</PresentationFormat>
  <Paragraphs>260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Nahía Alejandra Escalante Ccoyllo</cp:lastModifiedBy>
  <cp:revision>11</cp:revision>
  <dcterms:created xsi:type="dcterms:W3CDTF">2013-01-27T09:14:16Z</dcterms:created>
  <dcterms:modified xsi:type="dcterms:W3CDTF">2026-05-09T21:10:01Z</dcterms:modified>
  <cp:category/>
</cp:coreProperties>
</file>