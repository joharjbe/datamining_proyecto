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286000"/>
            <a:ext cx="137160" cy="22860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Procesamiento y Análisis 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4B400"/>
                </a:solidFill>
                <a:latin typeface="Calibri"/>
              </a:rPr>
              <a:t>Datos Masivos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CADCFC"/>
                </a:solidFill>
                <a:latin typeface="Calibri"/>
              </a:rPr>
              <a:t>MovieLens 20M  ·  PySpark  ·  MinHash + LSH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206240"/>
            <a:ext cx="3200400" cy="1500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Curso de Data Mining  ·  UTEC  ·  Prof. Heider Sanchez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Autor: Johar  ·  Abril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486400"/>
            <a:ext cx="2286000" cy="457200"/>
          </a:xfrm>
          <a:prstGeom prst="round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F3864"/>
                </a:solidFill>
                <a:latin typeface="Calibri"/>
              </a:rPr>
              <a:t>Sustentación · Proyecto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54864" cy="50292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El problema: datos masivos de comportamiento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Proyecto 1 · Data Mining UTEC · MovieLens 20M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2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286000" cy="11887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73152" cy="118872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087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20M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Ratings (0.5 – 5.0)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371600"/>
            <a:ext cx="2286000" cy="11887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371600"/>
            <a:ext cx="73152" cy="118872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63240" y="15087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138K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1488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Usuarios activos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697480"/>
            <a:ext cx="2286000" cy="11887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697480"/>
            <a:ext cx="73152" cy="118872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8346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27K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47472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Películas en catálogo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2697480"/>
            <a:ext cx="2286000" cy="11887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80360" y="2697480"/>
            <a:ext cx="73152" cy="118872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3240" y="28346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1995–2015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347472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Años de historia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13716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MovieLens 20M (GroupLens, U. Minnesota)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1874519"/>
            <a:ext cx="5943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95959"/>
                </a:solidFill>
                <a:latin typeface="Calibri"/>
              </a:rPr>
              <a:t>Plataforma de recomendación de la Universidad de Minnesota. Cada usuario calificó al menos 20 películas en escala de 0.5 a 5.0 estrellas.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600" b="0" i="0">
                <a:solidFill>
                  <a:srgbClr val="595959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1" i="0">
                <a:solidFill>
                  <a:srgbClr val="1F3864"/>
                </a:solidFill>
                <a:latin typeface="Calibri"/>
              </a:rPr>
              <a:t>Tres preguntas guía: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1" i="0">
                <a:solidFill>
                  <a:srgbClr val="1F3864"/>
                </a:solidFill>
                <a:latin typeface="Calibri"/>
              </a:rPr>
              <a:t>• Caracterizar</a:t>
            </a:r>
            <a:r>
              <a:rPr sz="1300" b="0" i="0">
                <a:solidFill>
                  <a:srgbClr val="595959"/>
                </a:solidFill>
                <a:latin typeface="Calibri"/>
              </a:rPr>
              <a:t> el dataset (EDA distribuido)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1" i="0">
                <a:solidFill>
                  <a:srgbClr val="1F3864"/>
                </a:solidFill>
                <a:latin typeface="Calibri"/>
              </a:rPr>
              <a:t>• Encontrar las películas más populares</a:t>
            </a:r>
            <a:r>
              <a:rPr sz="1300" b="0" i="0">
                <a:solidFill>
                  <a:srgbClr val="595959"/>
                </a:solidFill>
                <a:latin typeface="Calibri"/>
              </a:rPr>
              <a:t> (RDD vs DataFrame)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1" i="0">
                <a:solidFill>
                  <a:srgbClr val="1F3864"/>
                </a:solidFill>
                <a:latin typeface="Calibri"/>
              </a:rPr>
              <a:t>• Detectar pares similares</a:t>
            </a:r>
            <a:r>
              <a:rPr sz="1300" b="0" i="0">
                <a:solidFill>
                  <a:srgbClr val="595959"/>
                </a:solidFill>
                <a:latin typeface="Calibri"/>
              </a:rPr>
              <a:t> (Jaccard / MinHash / LSH)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29200"/>
            <a:ext cx="11155680" cy="128016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1206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Archivos usados: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44068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3864"/>
                </a:solidFill>
                <a:latin typeface="Calibri"/>
              </a:rPr>
              <a:t>ratings.csv</a:t>
            </a:r>
            <a:r>
              <a:rPr sz="1100" b="0" i="0">
                <a:solidFill>
                  <a:srgbClr val="595959"/>
                </a:solidFill>
                <a:latin typeface="Calibri"/>
              </a:rPr>
              <a:t> (533 MB · 20M ratings) · </a:t>
            </a:r>
            <a:r>
              <a:rPr sz="1100" b="1" i="0">
                <a:solidFill>
                  <a:srgbClr val="1F3864"/>
                </a:solidFill>
                <a:latin typeface="Calibri"/>
              </a:rPr>
              <a:t>movies.csv</a:t>
            </a:r>
            <a:r>
              <a:rPr sz="1100" b="0" i="0">
                <a:solidFill>
                  <a:srgbClr val="595959"/>
                </a:solidFill>
                <a:latin typeface="Calibri"/>
              </a:rPr>
              <a:t> (27K películas) · </a:t>
            </a:r>
            <a:r>
              <a:rPr sz="1100" b="1" i="0">
                <a:solidFill>
                  <a:srgbClr val="1F3864"/>
                </a:solidFill>
                <a:latin typeface="Calibri"/>
              </a:rPr>
              <a:t>tags.csv</a:t>
            </a:r>
            <a:r>
              <a:rPr sz="1100" b="0" i="0">
                <a:solidFill>
                  <a:srgbClr val="595959"/>
                </a:solidFill>
                <a:latin typeface="Calibri"/>
              </a:rPr>
              <a:t> (465K tags)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1">
                <a:solidFill>
                  <a:srgbClr val="595959"/>
                </a:solidFill>
                <a:latin typeface="Calibri"/>
              </a:rPr>
              <a:t>Descartados: links.csv (IDs externos), genome-scores.csv (323 MB no requeridos), genome-tags.csv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54864" cy="50292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Arquitectura: Spark distribuido sobre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Proyecto 1 · Data Mining UTEC · MovieLens 20M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3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828800"/>
            <a:ext cx="2560320" cy="11887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9202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Spark Master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2860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  <a:latin typeface="Calibri"/>
              </a:rPr>
              <a:t>localhost:8080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060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CADCFC"/>
                </a:solidFill>
                <a:latin typeface="Calibri"/>
              </a:rPr>
              <a:t>Coordina scheduling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2560320" cy="118872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Worker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  <a:latin typeface="Calibri"/>
              </a:rPr>
              <a:t>10 cores · 6.6 GiB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1828800"/>
            <a:ext cx="2560320" cy="118872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19202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Worker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2860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  <a:latin typeface="Calibri"/>
              </a:rPr>
              <a:t>10 cores · 6.6 GiB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2395728"/>
            <a:ext cx="640080" cy="2000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0" y="2395728"/>
            <a:ext cx="640080" cy="2000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0" y="3657600"/>
            <a:ext cx="2560320" cy="9144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74903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Jupyter + PySpark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114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F3864"/>
                </a:solidFill>
                <a:latin typeface="Calibri"/>
              </a:rPr>
              <a:t>Mac M1 Pro (ARM)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3017520"/>
            <a:ext cx="20000" cy="6400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Stack tecnológico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40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3864"/>
                </a:solidFill>
                <a:latin typeface="Calibri"/>
              </a:rPr>
              <a:t>Apache Spark 4.1.1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 (PySpark · MLlib)   ·   </a:t>
            </a:r>
            <a:r>
              <a:rPr sz="1200" b="1" i="0">
                <a:solidFill>
                  <a:srgbClr val="1F3864"/>
                </a:solidFill>
                <a:latin typeface="Calibri"/>
              </a:rPr>
              <a:t>Docker Compose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 (1 master + 2 workers · 20 cores · 13.3 GiB)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 i="0">
                <a:solidFill>
                  <a:srgbClr val="1F3864"/>
                </a:solidFill>
                <a:latin typeface="Calibri"/>
              </a:rPr>
              <a:t>Python 3.11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 · pandas · NumPy · matplotlib   ·   </a:t>
            </a:r>
            <a:r>
              <a:rPr sz="1200" b="1" i="0">
                <a:solidFill>
                  <a:srgbClr val="1F3864"/>
                </a:solidFill>
                <a:latin typeface="Calibri"/>
              </a:rPr>
              <a:t>Persistencia: Parquet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 (compresión + esquema)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54864" cy="50292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Fase 1 · Preprocesamiento y limpieza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Proyecto 1 · Data Mining UTEC · MovieLens 20M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4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3703320" cy="429768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1371600" cy="36576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01 LIMPIEZA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338328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3864"/>
                </a:solidFill>
                <a:latin typeface="Calibri"/>
              </a:rPr>
              <a:t>Verificación de calidad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0 nulos · 0 duplicados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0 ratings fuera de [0.5, 5.0]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i="0">
                <a:solidFill>
                  <a:srgbClr val="1F3864"/>
                </a:solidFill>
                <a:latin typeface="Calibri"/>
              </a:rPr>
              <a:t>Correcciones aplicadas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b="1" i="0">
                <a:solidFill>
                  <a:srgbClr val="1F3864"/>
                </a:solidFill>
                <a:latin typeface="Calibri"/>
              </a:rPr>
              <a:t>• 246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 películas sin género → </a:t>
            </a:r>
            <a:r>
              <a:rPr sz="1200" b="1" i="0">
                <a:solidFill>
                  <a:srgbClr val="1F3864"/>
                </a:solidFill>
                <a:latin typeface="Calibri"/>
              </a:rPr>
              <a:t>Unknown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1" i="0">
                <a:solidFill>
                  <a:srgbClr val="1F3864"/>
                </a:solidFill>
                <a:latin typeface="Calibri"/>
              </a:rPr>
              <a:t>• 2,334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 tags </a:t>
            </a:r>
            <a:r>
              <a:rPr sz="1200" b="0" i="1">
                <a:solidFill>
                  <a:srgbClr val="1F3864"/>
                </a:solidFill>
                <a:latin typeface="Calibri"/>
              </a:rPr>
              <a:t>bd-r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 eliminados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463040"/>
            <a:ext cx="3703320" cy="429768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60" y="1600200"/>
            <a:ext cx="1371600" cy="36576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02 GÉNEROS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194560"/>
            <a:ext cx="338328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3864"/>
                </a:solidFill>
                <a:latin typeface="Calibri"/>
              </a:rPr>
              <a:t>Unificación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200" b="0" i="1">
                <a:solidFill>
                  <a:srgbClr val="595959"/>
                </a:solidFill>
                <a:latin typeface="Calibri"/>
              </a:rPr>
              <a:t>Sci-Fi</a:t>
            </a:r>
            <a:r>
              <a:rPr sz="1200" b="1" i="0">
                <a:solidFill>
                  <a:srgbClr val="1F3864"/>
                </a:solidFill>
                <a:latin typeface="Calibri"/>
              </a:rPr>
              <a:t>  →  </a:t>
            </a:r>
            <a:r>
              <a:rPr sz="1200" b="0" i="1">
                <a:solidFill>
                  <a:srgbClr val="595959"/>
                </a:solidFill>
                <a:latin typeface="Calibri"/>
              </a:rPr>
              <a:t>Science Fiction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 i="1">
                <a:solidFill>
                  <a:srgbClr val="595959"/>
                </a:solidFill>
                <a:latin typeface="Calibri"/>
              </a:rPr>
              <a:t>Film-Noir</a:t>
            </a:r>
            <a:r>
              <a:rPr sz="1200" b="1" i="0">
                <a:solidFill>
                  <a:srgbClr val="1F3864"/>
                </a:solidFill>
                <a:latin typeface="Calibri"/>
              </a:rPr>
              <a:t>  →  </a:t>
            </a:r>
            <a:r>
              <a:rPr sz="1200" b="0" i="1">
                <a:solidFill>
                  <a:srgbClr val="595959"/>
                </a:solidFill>
                <a:latin typeface="Calibri"/>
              </a:rPr>
              <a:t>Film Noir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 i="1">
                <a:solidFill>
                  <a:srgbClr val="595959"/>
                </a:solidFill>
                <a:latin typeface="Calibri"/>
              </a:rPr>
              <a:t>Children</a:t>
            </a:r>
            <a:r>
              <a:rPr sz="1200" b="1" i="0">
                <a:solidFill>
                  <a:srgbClr val="1F3864"/>
                </a:solidFill>
                <a:latin typeface="Calibri"/>
              </a:rPr>
              <a:t>  →  </a:t>
            </a:r>
            <a:r>
              <a:rPr sz="1200" b="0" i="1">
                <a:solidFill>
                  <a:srgbClr val="595959"/>
                </a:solidFill>
                <a:latin typeface="Calibri"/>
              </a:rPr>
              <a:t>Children's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i="0">
                <a:solidFill>
                  <a:srgbClr val="1F3864"/>
                </a:solidFill>
                <a:latin typeface="Calibri"/>
              </a:rPr>
              <a:t>Eliminado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b="1" i="1">
                <a:solidFill>
                  <a:srgbClr val="1F3864"/>
                </a:solidFill>
                <a:latin typeface="Calibri"/>
              </a:rPr>
              <a:t>IMAX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 — es un formato, no un género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463040"/>
            <a:ext cx="3703320" cy="429768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75320" y="1600200"/>
            <a:ext cx="1554480" cy="36576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03 BINARIZACIÓN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194560"/>
            <a:ext cx="338328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3864"/>
                </a:solidFill>
                <a:latin typeface="Calibri"/>
              </a:rPr>
              <a:t>Umbral: rating ≥ 3.5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b="0" i="1">
                <a:solidFill>
                  <a:srgbClr val="595959"/>
                </a:solidFill>
                <a:latin typeface="Calibri"/>
              </a:rPr>
              <a:t>Justificación: 3.5 = media del dataset (3.53)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2200" b="1" i="0">
                <a:solidFill>
                  <a:srgbClr val="1F3864"/>
                </a:solidFill>
                <a:latin typeface="Calibri"/>
              </a:rPr>
              <a:t>61% likes</a:t>
            </a:r>
            <a:r>
              <a:rPr sz="2200" b="0" i="0">
                <a:solidFill>
                  <a:srgbClr val="595959"/>
                </a:solidFill>
                <a:latin typeface="Calibri"/>
              </a:rPr>
              <a:t>  ·  </a:t>
            </a:r>
            <a:r>
              <a:rPr sz="2200" b="1" i="0">
                <a:solidFill>
                  <a:srgbClr val="595959"/>
                </a:solidFill>
                <a:latin typeface="Calibri"/>
              </a:rPr>
              <a:t>39% dislikes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1" i="0">
                <a:solidFill>
                  <a:srgbClr val="1F3864"/>
                </a:solidFill>
                <a:latin typeface="Calibri"/>
              </a:rPr>
              <a:t>Salida persistida (Parquet)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 i="0">
                <a:solidFill>
                  <a:srgbClr val="595959"/>
                </a:solidFill>
                <a:latin typeface="Calibri"/>
              </a:rPr>
              <a:t>• ratings_clean.parquet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100" b="0" i="0">
                <a:solidFill>
                  <a:srgbClr val="595959"/>
                </a:solidFill>
                <a:latin typeface="Calibri"/>
              </a:rPr>
              <a:t>• movies_clean.parquet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100" b="0" i="0">
                <a:solidFill>
                  <a:srgbClr val="595959"/>
                </a:solidFill>
                <a:latin typeface="Calibri"/>
              </a:rPr>
              <a:t>• tags_clean.parquet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54864" cy="50292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EDA · Cómo califican los usuarios y qué tan rala es la matriz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Proyecto 1 · Data Mining UTEC · MovieLens 20M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5 / 14</a:t>
            </a:r>
          </a:p>
        </p:txBody>
      </p:sp>
      <p:pic>
        <p:nvPicPr>
          <p:cNvPr id="7" name="Picture 6" descr="01_distribucion_ra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5486400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800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Distribución de los 20M ratings · sesgo a ratings altos</a:t>
            </a:r>
          </a:p>
        </p:txBody>
      </p:sp>
      <p:pic>
        <p:nvPicPr>
          <p:cNvPr id="9" name="Picture 8" descr="05_spars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63040"/>
            <a:ext cx="5029200" cy="3291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48006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Sparsity de la matriz usuario × película = 99.46%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120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Lectura conjunta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4864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3864"/>
                </a:solidFill>
                <a:latin typeface="Calibri"/>
              </a:rPr>
              <a:t>•  Media 3.53, mediana 3.5</a:t>
            </a:r>
            <a:r>
              <a:rPr sz="1300" b="0" i="0">
                <a:solidFill>
                  <a:srgbClr val="595959"/>
                </a:solidFill>
                <a:latin typeface="Calibri"/>
              </a:rPr>
              <a:t> — los usuarios prefieren números enteros (3, 4, 5) y califican mayormente positivo. Justifica el umbral de 3.5 para like / dislike.</a:t>
            </a:r>
          </a:p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3864"/>
                </a:solidFill>
                <a:latin typeface="Calibri"/>
              </a:rPr>
              <a:t>•  3.7B celdas posibles vs 20M con rating</a:t>
            </a:r>
            <a:r>
              <a:rPr sz="1300" b="0" i="0">
                <a:solidFill>
                  <a:srgbClr val="595959"/>
                </a:solidFill>
                <a:latin typeface="Calibri"/>
              </a:rPr>
              <a:t> — el 99.46% está vacío. Justifica MinHash + LSH: comparar todos los pares es O(N²) y casi todos darían intersección nula.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54864" cy="50292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EDA · Power law en usuarios y películas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Proyecto 1 · Data Mining UTEC · MovieLens 20M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6 / 14</a:t>
            </a:r>
          </a:p>
        </p:txBody>
      </p:sp>
      <p:pic>
        <p:nvPicPr>
          <p:cNvPr id="7" name="Picture 6" descr="03_ratings_por_pelic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731520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1663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Ratings por película · histograma + boxplot + curva de percentiles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463040"/>
            <a:ext cx="3611880" cy="10058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83879" y="1463040"/>
            <a:ext cx="73152" cy="100584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16002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P50 =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24028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Mitad de las películas tiene ≤18 ratings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2606040"/>
            <a:ext cx="3611880" cy="10058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2606040"/>
            <a:ext cx="73152" cy="100584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59" y="27432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P75 = 205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338328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75% de las películas con &lt;205 ratings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3749039"/>
            <a:ext cx="3611880" cy="10058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3749039"/>
            <a:ext cx="73152" cy="100584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59" y="3886199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max = 67,310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59" y="4526279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Pulp Fiction lidera el catálogo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3492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Lectura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7150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3864"/>
                </a:solidFill>
                <a:latin typeface="Calibri"/>
              </a:rPr>
              <a:t>•  Long-tail clásico: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 la mitad inferior del catálogo apenas concentra ratings; el top 25% acumula casi todos los datos.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3864"/>
                </a:solidFill>
                <a:latin typeface="Calibri"/>
              </a:rPr>
              <a:t>•  Power-law en usuarios: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 P75 = 155 ratings, pero outliers superan los 9,000. Hay que decidir si filtrar o 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54864" cy="50292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EDA · Géneros y evolución temporal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Proyecto 1 · Data Mining UTEC · MovieLens 20M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7 / 14</a:t>
            </a:r>
          </a:p>
        </p:txBody>
      </p:sp>
      <p:pic>
        <p:nvPicPr>
          <p:cNvPr id="7" name="Picture 6" descr="04_distribucion_gene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5669280" cy="3474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98348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Drama (13,344) y Comedy (8,374) &gt; 50% del catálogo</a:t>
            </a:r>
          </a:p>
        </p:txBody>
      </p:sp>
      <p:pic>
        <p:nvPicPr>
          <p:cNvPr id="9" name="Picture 8" descr="06_evolucion_temp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63040"/>
            <a:ext cx="5303520" cy="3474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49834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Picos en 2000 y 2005 · caída por 2015 (export parcial)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3035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Interpretación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692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3864"/>
                </a:solidFill>
                <a:latin typeface="Calibri"/>
              </a:rPr>
              <a:t>•  Concentración en pocos géneros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 — Drama y Comedy dominan; Western (676), Film-Noir (330) son nichos. Una película puede tener varios géneros (overlap).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3864"/>
                </a:solidFill>
                <a:latin typeface="Calibri"/>
              </a:rPr>
              <a:t>•  Picos en 2000 y 2005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 — coinciden con el auge del DVD y la consolidación de plataformas online; caída posterior por migración a Netflix/YouTube.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54864" cy="50292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Fase 2 · Top-20 películas más calificadas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Proyecto 1 · Data Mining UTEC · MovieLens 20M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8 / 14</a:t>
            </a:r>
          </a:p>
        </p:txBody>
      </p:sp>
      <p:pic>
        <p:nvPicPr>
          <p:cNvPr id="7" name="Picture 6" descr="08_top20_pelicu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7315200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2440" y="14630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El cine icónico de los 90s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92024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95959"/>
                </a:solidFill>
                <a:latin typeface="Calibri"/>
              </a:rPr>
              <a:t>Pulp Fiction lidera con 67,310 ratings — un orden de magnitud por encima del promedio del catálogo.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200" b="1" i="0">
                <a:solidFill>
                  <a:srgbClr val="1F3864"/>
                </a:solidFill>
                <a:latin typeface="Calibri"/>
              </a:rPr>
              <a:t>Implementación: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1F3864"/>
                </a:solidFill>
                <a:latin typeface="Consolas"/>
              </a:rPr>
              <a:t>ratings.groupBy("movieId").count()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000" b="0" i="0">
                <a:solidFill>
                  <a:srgbClr val="1F3864"/>
                </a:solidFill>
                <a:latin typeface="Consolas"/>
              </a:rPr>
              <a:t>.join(movies, "movieId")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000" b="0" i="0">
                <a:solidFill>
                  <a:srgbClr val="1F3864"/>
                </a:solidFill>
                <a:latin typeface="Consolas"/>
              </a:rPr>
              <a:t>.orderBy(desc("count"))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000" b="0" i="0">
                <a:solidFill>
                  <a:srgbClr val="1F3864"/>
                </a:solidFill>
                <a:latin typeface="Consolas"/>
              </a:rPr>
              <a:t>.limit(20)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4572000"/>
            <a:ext cx="3749039" cy="13716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92440" y="4572000"/>
            <a:ext cx="73152" cy="13716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4709160"/>
            <a:ext cx="347471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67,310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5349240"/>
            <a:ext cx="3474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ratings de Pulp Fiction
(la película más calificada del dataset)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54864" cy="50292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Fase 2 · DataFrame vs RDD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Proyecto 1 · Data Mining UTEC · MovieLens 20M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9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Speedup de DataFrame sobre RDD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965960"/>
            <a:ext cx="5486400" cy="10058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73152" cy="100584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5740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1F3864"/>
                </a:solidFill>
                <a:latin typeface="Calibri"/>
              </a:rPr>
              <a:t>~119×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0574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Conteo por película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468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Calibri"/>
              </a:rPr>
              <a:t>(inflado por caché en memoria)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08960"/>
            <a:ext cx="5486400" cy="10058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108960"/>
            <a:ext cx="73152" cy="100584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0040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1F3864"/>
                </a:solidFill>
                <a:latin typeface="Calibri"/>
              </a:rPr>
              <a:t>~10×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2004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Top-20 con 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611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Calibri"/>
              </a:rPr>
              <a:t>más complejo · representativo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251960"/>
            <a:ext cx="5486400" cy="10058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251960"/>
            <a:ext cx="73152" cy="100584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34340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1F3864"/>
                </a:solidFill>
                <a:latin typeface="Calibri"/>
              </a:rPr>
              <a:t>~14×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3434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Conteo por usuario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4754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  <a:latin typeface="Calibri"/>
              </a:rPr>
              <a:t>agregación simple sin join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¿Por qué DataFrame gana?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74519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3864"/>
                </a:solidFill>
                <a:latin typeface="Calibri"/>
              </a:rPr>
              <a:t>•  Catalyst Optimizer</a:t>
            </a:r>
            <a:r>
              <a:rPr sz="1300" b="0" i="0">
                <a:solidFill>
                  <a:srgbClr val="595959"/>
                </a:solidFill>
                <a:latin typeface="Calibri"/>
              </a:rPr>
              <a:t> analiza el plan lógico y reorganiza filtros, joins y proyecciones para minimizar shuffles.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1" i="0">
                <a:solidFill>
                  <a:srgbClr val="1F3864"/>
                </a:solidFill>
                <a:latin typeface="Calibri"/>
              </a:rPr>
              <a:t>•  Tungsten engine</a:t>
            </a:r>
            <a:r>
              <a:rPr sz="1300" b="0" i="0">
                <a:solidFill>
                  <a:srgbClr val="595959"/>
                </a:solidFill>
                <a:latin typeface="Calibri"/>
              </a:rPr>
              <a:t> compila a bytecode JVM optimizado y trabaja con memoria off-heap (sin overhead de objetos).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1" i="0">
                <a:solidFill>
                  <a:srgbClr val="1F3864"/>
                </a:solidFill>
                <a:latin typeface="Calibri"/>
              </a:rPr>
              <a:t>•  RDD</a:t>
            </a:r>
            <a:r>
              <a:rPr sz="1300" b="0" i="0">
                <a:solidFill>
                  <a:srgbClr val="595959"/>
                </a:solidFill>
                <a:latin typeface="Calibri"/>
              </a:rPr>
              <a:t> procesa lambdas Python una a una, sin optimizaciones globales — útil para lógica que SQL no expresa, pero más lento por defecto.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5577840"/>
            <a:ext cx="5486400" cy="50292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Para queries SQL-style: DataFrame es la opción por defecto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54864" cy="50292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Fase 3 · Representación de películas como conjuntos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Proyecto 1 · Data Mining UTEC · MovieLens 20M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10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Opción A · cada película = conjunto de usuarios con like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1F3864"/>
                </a:solidFill>
                <a:latin typeface="Calibri"/>
              </a:rPr>
              <a:t>Pulp Fiction</a:t>
            </a:r>
            <a:r>
              <a:rPr sz="1300" b="0" i="0">
                <a:solidFill>
                  <a:srgbClr val="595959"/>
                </a:solidFill>
                <a:latin typeface="Consolas"/>
              </a:rPr>
              <a:t> = {u1, u5, u9, u23, …}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1" i="1">
                <a:solidFill>
                  <a:srgbClr val="1F3864"/>
                </a:solidFill>
                <a:latin typeface="Calibri"/>
              </a:rPr>
              <a:t>Forrest Gump</a:t>
            </a:r>
            <a:r>
              <a:rPr sz="1300" b="0" i="0">
                <a:solidFill>
                  <a:srgbClr val="595959"/>
                </a:solidFill>
                <a:latin typeface="Consolas"/>
              </a:rPr>
              <a:t> = {u1, u3, u9, u41, …}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600" b="0" i="0">
                <a:solidFill>
                  <a:srgbClr val="1F3864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1" i="0">
                <a:solidFill>
                  <a:srgbClr val="1F3864"/>
                </a:solidFill>
                <a:latin typeface="Calibri"/>
              </a:rPr>
              <a:t>Jaccard:  J(A,B) = |A∩B| / |A∪B|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 i="1">
                <a:solidFill>
                  <a:srgbClr val="595959"/>
                </a:solidFill>
                <a:latin typeface="Calibri"/>
              </a:rPr>
              <a:t>Solo presencia/ausencia, no frecuencia. Rango [0,1].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572000"/>
            <a:ext cx="5486400" cy="14630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4572000"/>
            <a:ext cx="73152" cy="146304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6344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Filtro de calidad: ≥ 50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074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3864"/>
                </a:solidFill>
                <a:latin typeface="Calibri"/>
              </a:rPr>
              <a:t>8,362 películas</a:t>
            </a:r>
            <a:r>
              <a:rPr sz="1200" b="0" i="0">
                <a:solidFill>
                  <a:srgbClr val="595959"/>
                </a:solidFill>
                <a:latin typeface="Calibri"/>
              </a:rPr>
              <a:t> con firma. Por debajo de 50 elementos el Jaccard se vuelve inestable (cambio &gt;1.5% al añadir un usuario).</a:t>
            </a:r>
          </a:p>
        </p:txBody>
      </p:sp>
      <p:pic>
        <p:nvPicPr>
          <p:cNvPr id="13" name="Picture 12" descr="10_sensibilidad_jac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394960" cy="3108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Sensibilidad del Jaccard según tamaño del set</a:t>
            </a:r>
          </a:p>
        </p:txBody>
      </p:sp>
      <p:pic>
        <p:nvPicPr>
          <p:cNvPr id="15" name="Picture 14" descr="11_analisis_muestra_jac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617720"/>
            <a:ext cx="5394960" cy="16916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0" y="635508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Muestra de 200 películas → 19,900 pares como ground truth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54864" cy="50292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Fase 3 · MinHash aproxima Jaccard a una fracción del costo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Proyecto 1 · Data Mining UTEC · MovieLens 20M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11 / 14</a:t>
            </a:r>
          </a:p>
        </p:txBody>
      </p:sp>
      <p:pic>
        <p:nvPicPr>
          <p:cNvPr id="7" name="Picture 6" descr="12_jaccard_exacto_vs_minh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68580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778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Distribución de J exacto · scatter J exacto vs MinHash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41732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Métricas vs Jaccard exacto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920240"/>
            <a:ext cx="4206240" cy="9144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0" y="1920240"/>
            <a:ext cx="73152" cy="9144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205740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MAE 0.0104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6974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Error medio absoluto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2926080"/>
            <a:ext cx="4206240" cy="9144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80960" y="2926080"/>
            <a:ext cx="73152" cy="9144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306324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0.8894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37033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Correlación de Pearson (p &lt; 1e-300)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3931920"/>
            <a:ext cx="4206240" cy="9144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80960" y="3931920"/>
            <a:ext cx="73152" cy="9144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406908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100 hashes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470916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Vectores de 100 enteros vs sets de 500+ usuarios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5029200"/>
            <a:ext cx="4206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3864"/>
                </a:solidFill>
                <a:latin typeface="Calibri"/>
              </a:rPr>
              <a:t>Lectura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 i="1">
                <a:solidFill>
                  <a:srgbClr val="595959"/>
                </a:solidFill>
                <a:latin typeface="Calibri"/>
              </a:rPr>
              <a:t>MinHash preserva el ranking de similitud — lo crítico para un recomendador. El error se concentra en pares de baja similitud, donde el ruido importa menos.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54864" cy="50292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Fase 3 · LSH · trade-off precisión vs recall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Proyecto 1 · Data Mining UTEC · MovieLens 20M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12 / 14</a:t>
            </a:r>
          </a:p>
        </p:txBody>
      </p:sp>
      <p:pic>
        <p:nvPicPr>
          <p:cNvPr id="7" name="Picture 6" descr="13_lsh_precision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6400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778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Curva precisión-recall variando b·r = 100 constante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14173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Resultados por configuración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78040" y="1920240"/>
            <a:ext cx="640080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192024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8120" y="1920240"/>
            <a:ext cx="640080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192024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920240"/>
            <a:ext cx="1005840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192024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Cand.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64040" y="1920240"/>
            <a:ext cx="868680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0" y="1920240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32720" y="1920240"/>
            <a:ext cx="868680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0" y="1920240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2331720"/>
            <a:ext cx="6400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8040" y="233172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18120" y="2331720"/>
            <a:ext cx="6400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20" y="233172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58200" y="2331720"/>
            <a:ext cx="1005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233172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13,090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2331720"/>
            <a:ext cx="8686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4040" y="2331720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0.031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32720" y="2331720"/>
            <a:ext cx="8686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0" y="2331720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1.000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2743200"/>
            <a:ext cx="6400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274320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50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8120" y="2743200"/>
            <a:ext cx="6400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18120" y="274320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58200" y="2743200"/>
            <a:ext cx="1005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8200" y="274320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1,101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64040" y="2743200"/>
            <a:ext cx="8686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64040" y="2743200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0.243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32720" y="2743200"/>
            <a:ext cx="8686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32720" y="2743200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0.663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78040" y="3154680"/>
            <a:ext cx="640080" cy="411480"/>
          </a:xfrm>
          <a:prstGeom prst="rect">
            <a:avLst/>
          </a:prstGeom>
          <a:solidFill>
            <a:srgbClr val="F8F9FA"/>
          </a:solidFill>
          <a:ln w="9525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78040" y="315468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3154680"/>
            <a:ext cx="640080" cy="411480"/>
          </a:xfrm>
          <a:prstGeom prst="rect">
            <a:avLst/>
          </a:prstGeom>
          <a:solidFill>
            <a:srgbClr val="F8F9FA"/>
          </a:solidFill>
          <a:ln w="9525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8120" y="315468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Calibri"/>
              </a:rPr>
              <a:t>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58200" y="3154680"/>
            <a:ext cx="1005840" cy="411480"/>
          </a:xfrm>
          <a:prstGeom prst="rect">
            <a:avLst/>
          </a:prstGeom>
          <a:solidFill>
            <a:srgbClr val="F8F9FA"/>
          </a:solidFill>
          <a:ln w="9525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58200" y="315468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Calibri"/>
              </a:rPr>
              <a:t>20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64040" y="3154680"/>
            <a:ext cx="868680" cy="411480"/>
          </a:xfrm>
          <a:prstGeom prst="rect">
            <a:avLst/>
          </a:prstGeom>
          <a:solidFill>
            <a:srgbClr val="F8F9FA"/>
          </a:solidFill>
          <a:ln w="9525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64040" y="3154680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Calibri"/>
              </a:rPr>
              <a:t>0.850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332720" y="3154680"/>
            <a:ext cx="868680" cy="411480"/>
          </a:xfrm>
          <a:prstGeom prst="rect">
            <a:avLst/>
          </a:prstGeom>
          <a:solidFill>
            <a:srgbClr val="F8F9FA"/>
          </a:solidFill>
          <a:ln w="9525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332720" y="3154680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Calibri"/>
              </a:rPr>
              <a:t>0.042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78040" y="3566160"/>
            <a:ext cx="6400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78040" y="356616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20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18120" y="3566160"/>
            <a:ext cx="6400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18120" y="356616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58200" y="3566160"/>
            <a:ext cx="1005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58200" y="356616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64040" y="3566160"/>
            <a:ext cx="8686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64040" y="3566160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0.000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332720" y="3566160"/>
            <a:ext cx="86868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332720" y="3566160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0.000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78040" y="4434840"/>
            <a:ext cx="4572000" cy="12801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0" y="45262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4B400"/>
                </a:solidFill>
                <a:latin typeface="Calibri"/>
              </a:rPr>
              <a:t>Configuración óptima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15200" y="489204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 = 25  ·  r = 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0" y="53492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Calibri"/>
              </a:rPr>
              <a:t>Precisión 0.85 · punto más alejado del origen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576072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El trade-off es inevitable: muchas bandas → más recall, menos precisión; pocas bandas → más precisión, menos recall. La elección depende del objetivo del producto.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54864" cy="50292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Discusión crítica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Proyecto 1 · Data Mining UTEC · MovieLens 20M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13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577840" cy="219456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73152" cy="219456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6459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Exactitud vs eficiencia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Comparar todas las películas con Jaccard exacto cuesta O(N²) ≈ 365M pares para 27K. MinHash + LSH lo bajan a O(N) candidatos perdiendo solo 0.01 de error medio. La aproximación es viable.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417320"/>
            <a:ext cx="5577840" cy="219456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417320"/>
            <a:ext cx="73152" cy="219456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92240" y="1645920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6459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FP vs FN en producción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28600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Un FP recomienda algo que no se consume (costo bajo). Un FN deja de recomendar algo que gustaría (costo alto, pierde engagement). El balance se afina con b según el objetivo: descubrimiento (b alto) vs curaduría (b bajo).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794760"/>
            <a:ext cx="5577840" cy="219456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73152" cy="219456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4023360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02336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¿Cuándo usar Spark?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634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Con 20M ratings, pandas puede funcionar en M1 con cuidado, pero no escala a 200M+. Spark se justifica cuando los datos no caben en RAM, se requiere paralelismo SQL real, o se quiere portabilidad a un clúster productivo.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794760"/>
            <a:ext cx="5577840" cy="219456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94760"/>
            <a:ext cx="73152" cy="219456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0" y="4023360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02336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Aplicabilidad real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El pipeline Jaccard → MinHash → LSH es exactamente lo que usa Netflix para encontrar películas similares, Spotify para canciones y Amazon para productos. La representación por usuarios con like es agnóstica de features.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4B400"/>
                </a:solidFill>
                <a:latin typeface="Calibri"/>
              </a:rPr>
              <a:t>Conclusiones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1828800" cy="2000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4B400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Preprocesamiento riguroso es prerequisito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057400"/>
            <a:ext cx="9875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Limpieza, unificación de géneros y binarización justificada (umbral 3.5 por la media 3.53) son indispensables antes de cualquier técnica de minería posterior.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4B400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1089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DataFrame &gt; RDD para queries SQL-style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611880"/>
            <a:ext cx="9875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10× a 14× más rápido en operaciones de agregación y join (sin caché). RDD sigue útil para lógica no-SQL, pero deja de ser la primera opción.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4B400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663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MinHash + LSH es eficiente y suficientemente preciso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166360"/>
            <a:ext cx="9875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Correlación 0.89 con Jaccard exacto y precisión 0.85 con b=25/r=4. Pipeline replicable en escenarios reales tipo Netflix/Spotify/Amazon.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solidFill>
            <a:srgbClr val="142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035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F4B400"/>
                </a:solidFill>
                <a:latin typeface="Calibri"/>
              </a:rPr>
              <a:t>Pendiente: Fase 4 — Reglas de asociación con FP-Growth (Spark MLlib)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