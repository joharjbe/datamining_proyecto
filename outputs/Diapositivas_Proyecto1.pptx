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6" r:id="rId12"/>
    <p:sldId id="266" r:id="rId13"/>
    <p:sldId id="274" r:id="rId14"/>
    <p:sldId id="278" r:id="rId15"/>
    <p:sldId id="275" r:id="rId16"/>
    <p:sldId id="270" r:id="rId17"/>
    <p:sldId id="273" r:id="rId18"/>
    <p:sldId id="271" r:id="rId19"/>
    <p:sldId id="277" r:id="rId20"/>
    <p:sldId id="272" r:id="rId21"/>
    <p:sldId id="26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19"/>
    <p:restoredTop sz="94678"/>
  </p:normalViewPr>
  <p:slideViewPr>
    <p:cSldViewPr snapToGrid="0" snapToObjects="1">
      <p:cViewPr varScale="1">
        <p:scale>
          <a:sx n="134" d="100"/>
          <a:sy n="134" d="100"/>
        </p:scale>
        <p:origin x="160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7C7DC1-A3E2-784C-BA68-D9EBA1E550C7}" type="datetimeFigureOut">
              <a:rPr lang="en-PE" smtClean="0"/>
              <a:t>9/05/26</a:t>
            </a:fld>
            <a:endParaRPr lang="en-P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E07496-B2FC-1141-A9E6-C9256A0F99EF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611167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E07496-B2FC-1141-A9E6-C9256A0F99EF}" type="slidenum">
              <a:rPr lang="en-PE" smtClean="0"/>
              <a:t>10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8351241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BDF23-BB0E-3D02-6E5D-A8C80637C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36E1E1-06B3-E9AF-CB03-F0B506BC11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2836F0-ACD5-F3D2-6293-53B97BF34C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82A3AF-B8D1-A9A3-093A-12895419C1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E07496-B2FC-1141-A9E6-C9256A0F99EF}" type="slidenum">
              <a:rPr lang="en-PE" smtClean="0"/>
              <a:t>11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9681199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E07496-B2FC-1141-A9E6-C9256A0F99EF}" type="slidenum">
              <a:rPr lang="en-PE" smtClean="0"/>
              <a:t>12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5566194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E07496-B2FC-1141-A9E6-C9256A0F99EF}" type="slidenum">
              <a:rPr lang="en-PE" smtClean="0"/>
              <a:t>13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4354651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E07496-B2FC-1141-A9E6-C9256A0F99EF}" type="slidenum">
              <a:rPr lang="en-PE" smtClean="0"/>
              <a:t>17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7075117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E07496-B2FC-1141-A9E6-C9256A0F99EF}" type="slidenum">
              <a:rPr lang="en-PE" smtClean="0"/>
              <a:t>21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259525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2286000"/>
            <a:ext cx="137160" cy="22860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Procesamiento y Análisis 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4B400"/>
                </a:solidFill>
                <a:latin typeface="Calibri"/>
              </a:rPr>
              <a:t>Datos Masivos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118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CADCFC"/>
                </a:solidFill>
                <a:latin typeface="Calibri"/>
              </a:rPr>
              <a:t>MovieLens 20M  ·  PySpark  ·  MinHash + LSH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206240"/>
            <a:ext cx="3200400" cy="150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3434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Curso de Data Mining  ·  UTEC  ·  Prof. Heider Sanchez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09160"/>
            <a:ext cx="10058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CADCFC"/>
                </a:solidFill>
                <a:latin typeface="Calibri"/>
              </a:rPr>
              <a:t>Autor: Johar</a:t>
            </a:r>
            <a:r>
              <a:rPr lang="en-US" sz="1400" b="0" i="0" dirty="0">
                <a:solidFill>
                  <a:srgbClr val="CADCFC"/>
                </a:solidFill>
                <a:latin typeface="Calibri"/>
              </a:rPr>
              <a:t>, Nahia, Alejandro</a:t>
            </a:r>
            <a:r>
              <a:rPr sz="1400" b="0" i="0" dirty="0">
                <a:solidFill>
                  <a:srgbClr val="CADCFC"/>
                </a:solidFill>
                <a:latin typeface="Calibri"/>
              </a:rPr>
              <a:t>  ·  Abril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486400"/>
            <a:ext cx="2286000" cy="457200"/>
          </a:xfrm>
          <a:prstGeom prst="round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dirty="0" err="1">
                <a:solidFill>
                  <a:srgbClr val="1F3864"/>
                </a:solidFill>
                <a:latin typeface="Calibri"/>
              </a:rPr>
              <a:t>Sustentación</a:t>
            </a:r>
            <a:r>
              <a:rPr sz="1200" b="1" dirty="0">
                <a:solidFill>
                  <a:srgbClr val="1F3864"/>
                </a:solidFill>
                <a:latin typeface="Calibri"/>
              </a:rPr>
              <a:t> · Proyecto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Calibri"/>
              </a:rPr>
              <a:t>El problema: datos masivos de comportamiento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2286000" cy="11887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73152" cy="11887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50876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20M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Ratings (0.5 – 5.0)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360" y="1371600"/>
            <a:ext cx="2286000" cy="11887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80360" y="1371600"/>
            <a:ext cx="73152" cy="11887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63240" y="150876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138K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14884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Usuarios activos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697480"/>
            <a:ext cx="2286000" cy="11887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2697480"/>
            <a:ext cx="73152" cy="11887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283464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27K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47472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Películas en catálogo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360" y="2697480"/>
            <a:ext cx="2286000" cy="11887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880360" y="2697480"/>
            <a:ext cx="73152" cy="11887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63240" y="283464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1995–2015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347472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Años de historia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137160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Calibri"/>
              </a:rPr>
              <a:t>MovieLens 20M (GroupLens, U. Minnesota)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1874519"/>
            <a:ext cx="594360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95959"/>
                </a:solidFill>
                <a:latin typeface="Calibri"/>
              </a:rPr>
              <a:t>Plataforma de recomendación de la Universidad de Minnesota. Cada usuario calificó al menos 20 películas en escala de 0.5 a 5.0 estrellas.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endParaRPr sz="1300" b="0" i="0">
              <a:solidFill>
                <a:srgbClr val="595959"/>
              </a:solidFill>
              <a:latin typeface="Calibri"/>
            </a:endParaRP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400" b="1" i="0">
                <a:solidFill>
                  <a:srgbClr val="1F3864"/>
                </a:solidFill>
                <a:latin typeface="Calibri"/>
              </a:rPr>
              <a:t>Tres preguntas guía: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1" i="0">
                <a:solidFill>
                  <a:srgbClr val="1F3864"/>
                </a:solidFill>
                <a:latin typeface="Calibri"/>
              </a:rPr>
              <a:t>• Caracterizar</a:t>
            </a:r>
            <a:r>
              <a:rPr sz="1300" b="0" i="0">
                <a:solidFill>
                  <a:srgbClr val="595959"/>
                </a:solidFill>
                <a:latin typeface="Calibri"/>
              </a:rPr>
              <a:t> el dataset (EDA distribuido)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1" i="0">
                <a:solidFill>
                  <a:srgbClr val="1F3864"/>
                </a:solidFill>
                <a:latin typeface="Calibri"/>
              </a:rPr>
              <a:t>• Encontrar las películas más populares</a:t>
            </a:r>
            <a:r>
              <a:rPr sz="1300" b="0" i="0">
                <a:solidFill>
                  <a:srgbClr val="595959"/>
                </a:solidFill>
                <a:latin typeface="Calibri"/>
              </a:rPr>
              <a:t> (RDD vs DataFrame)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1" i="0">
                <a:solidFill>
                  <a:srgbClr val="1F3864"/>
                </a:solidFill>
                <a:latin typeface="Calibri"/>
              </a:rPr>
              <a:t>• Detectar pares similares</a:t>
            </a:r>
            <a:r>
              <a:rPr sz="1300" b="0" i="0">
                <a:solidFill>
                  <a:srgbClr val="595959"/>
                </a:solidFill>
                <a:latin typeface="Calibri"/>
              </a:rPr>
              <a:t> (Jaccard / MinHash / LSH)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029200"/>
            <a:ext cx="11155680" cy="128016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1206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Archivos usados: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44068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3864"/>
                </a:solidFill>
                <a:latin typeface="Calibri"/>
              </a:rPr>
              <a:t>ratings.csv</a:t>
            </a:r>
            <a:r>
              <a:rPr sz="1100" b="0" i="0">
                <a:solidFill>
                  <a:srgbClr val="595959"/>
                </a:solidFill>
                <a:latin typeface="Calibri"/>
              </a:rPr>
              <a:t> (533 MB · 20M ratings) · </a:t>
            </a:r>
            <a:r>
              <a:rPr sz="1100" b="1" i="0">
                <a:solidFill>
                  <a:srgbClr val="1F3864"/>
                </a:solidFill>
                <a:latin typeface="Calibri"/>
              </a:rPr>
              <a:t>movies.csv</a:t>
            </a:r>
            <a:r>
              <a:rPr sz="1100" b="0" i="0">
                <a:solidFill>
                  <a:srgbClr val="595959"/>
                </a:solidFill>
                <a:latin typeface="Calibri"/>
              </a:rPr>
              <a:t> (27K películas) · </a:t>
            </a:r>
            <a:r>
              <a:rPr sz="1100" b="1" i="0">
                <a:solidFill>
                  <a:srgbClr val="1F3864"/>
                </a:solidFill>
                <a:latin typeface="Calibri"/>
              </a:rPr>
              <a:t>tags.csv</a:t>
            </a:r>
            <a:r>
              <a:rPr sz="1100" b="0" i="0">
                <a:solidFill>
                  <a:srgbClr val="595959"/>
                </a:solidFill>
                <a:latin typeface="Calibri"/>
              </a:rPr>
              <a:t> (465K tags)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00" b="0" i="1">
                <a:solidFill>
                  <a:srgbClr val="595959"/>
                </a:solidFill>
                <a:latin typeface="Calibri"/>
              </a:rPr>
              <a:t>Descartados: links.csv (IDs externos), genome-scores.csv (323 MB no requeridos), genome-tags.csv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7112" y="22860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Calibri"/>
              </a:rPr>
              <a:t>Arquitectura: Spark distribuido sobre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828800"/>
            <a:ext cx="2560320" cy="11887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1920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Spark Master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860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localhost:8080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060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CADCFC"/>
                </a:solidFill>
                <a:latin typeface="Calibri"/>
              </a:rPr>
              <a:t>Coordina scheduling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828800"/>
            <a:ext cx="2560320" cy="118872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920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Worker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860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10 cores · 6.6 GiB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1828800"/>
            <a:ext cx="2560320" cy="118872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0" y="1920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Worker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2860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10 cores · 6.6 GiB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2395728"/>
            <a:ext cx="640080" cy="200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132320" y="2395728"/>
            <a:ext cx="640080" cy="200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0" y="3657600"/>
            <a:ext cx="2560320" cy="9144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0" y="3749039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Calibri"/>
              </a:rPr>
              <a:t>Jupyter + PySpark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1148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F3864"/>
                </a:solidFill>
                <a:latin typeface="Calibri"/>
              </a:rPr>
              <a:t>Mac M1 Pro (ARM)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3017520"/>
            <a:ext cx="20000" cy="64008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029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Stack tecnológico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4068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3864"/>
                </a:solidFill>
                <a:latin typeface="Calibri"/>
              </a:rPr>
              <a:t>Apache Spark 4.1.1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 (PySpark · MLlib)   ·   </a:t>
            </a:r>
            <a:r>
              <a:rPr sz="1200" b="1" i="0">
                <a:solidFill>
                  <a:srgbClr val="1F3864"/>
                </a:solidFill>
                <a:latin typeface="Calibri"/>
              </a:rPr>
              <a:t>Docker Compose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 (1 master + 2 workers · 20 cores · 13.3 GiB)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200" b="1" i="0">
                <a:solidFill>
                  <a:srgbClr val="1F3864"/>
                </a:solidFill>
                <a:latin typeface="Calibri"/>
              </a:rPr>
              <a:t>Python 3.11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 · pandas · NumPy · matplotlib   ·   </a:t>
            </a:r>
            <a:r>
              <a:rPr sz="1200" b="1" i="0">
                <a:solidFill>
                  <a:srgbClr val="1F3864"/>
                </a:solidFill>
                <a:latin typeface="Calibri"/>
              </a:rPr>
              <a:t>Persistencia: Parquet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 (compresión + esquema)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Calibri"/>
              </a:rPr>
              <a:t>Fase 1 · Preprocesamiento y limpieza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3703320" cy="42976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1371600" cy="3657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01 LIMPIEZA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338328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3864"/>
                </a:solidFill>
                <a:latin typeface="Calibri"/>
              </a:rPr>
              <a:t>Verificación de calidad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 i="0">
                <a:solidFill>
                  <a:srgbClr val="595959"/>
                </a:solidFill>
                <a:latin typeface="Calibri"/>
              </a:rPr>
              <a:t>• 0 nulos · 0 duplicados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200" b="0" i="0">
                <a:solidFill>
                  <a:srgbClr val="595959"/>
                </a:solidFill>
                <a:latin typeface="Calibri"/>
              </a:rPr>
              <a:t>• 0 ratings fuera de [0.5, 5.0]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400" b="1" i="0">
                <a:solidFill>
                  <a:srgbClr val="1F3864"/>
                </a:solidFill>
                <a:latin typeface="Calibri"/>
              </a:rPr>
              <a:t>Correcciones aplicadas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1" i="0">
                <a:solidFill>
                  <a:srgbClr val="1F3864"/>
                </a:solidFill>
                <a:latin typeface="Calibri"/>
              </a:rPr>
              <a:t>• 246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 películas sin género → </a:t>
            </a:r>
            <a:r>
              <a:rPr sz="1200" b="1" i="0">
                <a:solidFill>
                  <a:srgbClr val="1F3864"/>
                </a:solidFill>
                <a:latin typeface="Calibri"/>
              </a:rPr>
              <a:t>Unknown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200" b="1" i="0">
                <a:solidFill>
                  <a:srgbClr val="1F3864"/>
                </a:solidFill>
                <a:latin typeface="Calibri"/>
              </a:rPr>
              <a:t>• 2,334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 tags </a:t>
            </a:r>
            <a:r>
              <a:rPr sz="1200" b="0" i="1">
                <a:solidFill>
                  <a:srgbClr val="1F3864"/>
                </a:solidFill>
                <a:latin typeface="Calibri"/>
              </a:rPr>
              <a:t>bd-r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 eliminados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3703320" cy="42976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80560" y="1600200"/>
            <a:ext cx="1371600" cy="3657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02 GÉNEROS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94560"/>
            <a:ext cx="338328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3864"/>
                </a:solidFill>
                <a:latin typeface="Calibri"/>
              </a:rPr>
              <a:t>Unificación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200" b="0" i="1">
                <a:solidFill>
                  <a:srgbClr val="595959"/>
                </a:solidFill>
                <a:latin typeface="Calibri"/>
              </a:rPr>
              <a:t>Sci-Fi</a:t>
            </a:r>
            <a:r>
              <a:rPr sz="1200" b="1" i="0">
                <a:solidFill>
                  <a:srgbClr val="1F3864"/>
                </a:solidFill>
                <a:latin typeface="Calibri"/>
              </a:rPr>
              <a:t>  →  </a:t>
            </a:r>
            <a:r>
              <a:rPr sz="1200" b="0" i="1">
                <a:solidFill>
                  <a:srgbClr val="595959"/>
                </a:solidFill>
                <a:latin typeface="Calibri"/>
              </a:rPr>
              <a:t>Science Fiction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200" b="0" i="1">
                <a:solidFill>
                  <a:srgbClr val="595959"/>
                </a:solidFill>
                <a:latin typeface="Calibri"/>
              </a:rPr>
              <a:t>Film-Noir</a:t>
            </a:r>
            <a:r>
              <a:rPr sz="1200" b="1" i="0">
                <a:solidFill>
                  <a:srgbClr val="1F3864"/>
                </a:solidFill>
                <a:latin typeface="Calibri"/>
              </a:rPr>
              <a:t>  →  </a:t>
            </a:r>
            <a:r>
              <a:rPr sz="1200" b="0" i="1">
                <a:solidFill>
                  <a:srgbClr val="595959"/>
                </a:solidFill>
                <a:latin typeface="Calibri"/>
              </a:rPr>
              <a:t>Film Noir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200" b="0" i="1">
                <a:solidFill>
                  <a:srgbClr val="595959"/>
                </a:solidFill>
                <a:latin typeface="Calibri"/>
              </a:rPr>
              <a:t>Children</a:t>
            </a:r>
            <a:r>
              <a:rPr sz="1200" b="1" i="0">
                <a:solidFill>
                  <a:srgbClr val="1F3864"/>
                </a:solidFill>
                <a:latin typeface="Calibri"/>
              </a:rPr>
              <a:t>  →  </a:t>
            </a:r>
            <a:r>
              <a:rPr sz="1200" b="0" i="1">
                <a:solidFill>
                  <a:srgbClr val="595959"/>
                </a:solidFill>
                <a:latin typeface="Calibri"/>
              </a:rPr>
              <a:t>Children's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400" b="1" i="0">
                <a:solidFill>
                  <a:srgbClr val="1F3864"/>
                </a:solidFill>
                <a:latin typeface="Calibri"/>
              </a:rPr>
              <a:t>Eliminado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1" i="1">
                <a:solidFill>
                  <a:srgbClr val="1F3864"/>
                </a:solidFill>
                <a:latin typeface="Calibri"/>
              </a:rPr>
              <a:t>IMAX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 — es un formato, no un género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463040"/>
            <a:ext cx="3703320" cy="42976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75320" y="1600200"/>
            <a:ext cx="1554480" cy="3657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03 BINARIZACIÓN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194560"/>
            <a:ext cx="338328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3864"/>
                </a:solidFill>
                <a:latin typeface="Calibri"/>
              </a:rPr>
              <a:t>Umbral: rating ≥ 3.5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 i="1">
                <a:solidFill>
                  <a:srgbClr val="595959"/>
                </a:solidFill>
                <a:latin typeface="Calibri"/>
              </a:rPr>
              <a:t>Justificación: 3.5 = media del dataset (3.53)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2200" b="1" i="0">
                <a:solidFill>
                  <a:srgbClr val="1F3864"/>
                </a:solidFill>
                <a:latin typeface="Calibri"/>
              </a:rPr>
              <a:t>61% likes</a:t>
            </a:r>
            <a:r>
              <a:rPr sz="2200" b="0" i="0">
                <a:solidFill>
                  <a:srgbClr val="595959"/>
                </a:solidFill>
                <a:latin typeface="Calibri"/>
              </a:rPr>
              <a:t>  ·  </a:t>
            </a:r>
            <a:r>
              <a:rPr sz="2200" b="1" i="0">
                <a:solidFill>
                  <a:srgbClr val="595959"/>
                </a:solidFill>
                <a:latin typeface="Calibri"/>
              </a:rPr>
              <a:t>39% dislikes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400" b="1" i="0">
                <a:solidFill>
                  <a:srgbClr val="1F3864"/>
                </a:solidFill>
                <a:latin typeface="Calibri"/>
              </a:rPr>
              <a:t>Salida persistida (Parquet)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100" b="0" i="0">
                <a:solidFill>
                  <a:srgbClr val="595959"/>
                </a:solidFill>
                <a:latin typeface="Calibri"/>
              </a:rPr>
              <a:t>• ratings_clean.parquet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100" b="0" i="0">
                <a:solidFill>
                  <a:srgbClr val="595959"/>
                </a:solidFill>
                <a:latin typeface="Calibri"/>
              </a:rPr>
              <a:t>• movies_clean.parquet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100" b="0" i="0">
                <a:solidFill>
                  <a:srgbClr val="595959"/>
                </a:solidFill>
                <a:latin typeface="Calibri"/>
              </a:rPr>
              <a:t>• tags_clean.parquet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Calibri"/>
              </a:rPr>
              <a:t>EDA · Cómo califican los usuarios y qué tan rala es la matriz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pic>
        <p:nvPicPr>
          <p:cNvPr id="7" name="Picture 6" descr="01_distribucion_ra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6580786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85826" y="48006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 dirty="0" err="1">
                <a:solidFill>
                  <a:srgbClr val="595959"/>
                </a:solidFill>
                <a:latin typeface="Calibri"/>
              </a:rPr>
              <a:t>Distribución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 de </a:t>
            </a:r>
            <a:r>
              <a:rPr sz="1000" b="0" i="1" dirty="0" err="1">
                <a:solidFill>
                  <a:srgbClr val="595959"/>
                </a:solidFill>
                <a:latin typeface="Calibri"/>
              </a:rPr>
              <a:t>los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 20M ratings · </a:t>
            </a:r>
            <a:r>
              <a:rPr sz="1000" b="0" i="1" dirty="0" err="1">
                <a:solidFill>
                  <a:srgbClr val="595959"/>
                </a:solidFill>
                <a:latin typeface="Calibri"/>
              </a:rPr>
              <a:t>sesgo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 a ratings altos</a:t>
            </a:r>
          </a:p>
        </p:txBody>
      </p:sp>
      <p:pic>
        <p:nvPicPr>
          <p:cNvPr id="9" name="Picture 8" descr="05_spar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706" y="1508760"/>
            <a:ext cx="3663387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48006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 dirty="0">
                <a:solidFill>
                  <a:srgbClr val="595959"/>
                </a:solidFill>
                <a:latin typeface="Calibri"/>
              </a:rPr>
              <a:t>Sparsity de la </a:t>
            </a:r>
            <a:r>
              <a:rPr sz="1000" b="0" i="1" dirty="0" err="1">
                <a:solidFill>
                  <a:srgbClr val="595959"/>
                </a:solidFill>
                <a:latin typeface="Calibri"/>
              </a:rPr>
              <a:t>matriz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95959"/>
                </a:solidFill>
                <a:latin typeface="Calibri"/>
              </a:rPr>
              <a:t>usuario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 × </a:t>
            </a:r>
            <a:r>
              <a:rPr sz="1000" b="0" i="1" dirty="0" err="1">
                <a:solidFill>
                  <a:srgbClr val="595959"/>
                </a:solidFill>
                <a:latin typeface="Calibri"/>
              </a:rPr>
              <a:t>película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 = 99.46%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1206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Lectura conjunta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486400"/>
            <a:ext cx="11247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3864"/>
                </a:solidFill>
                <a:latin typeface="Calibri"/>
              </a:rPr>
              <a:t>•  Media 3.53, mediana 3.5</a:t>
            </a:r>
            <a:r>
              <a:rPr sz="1300" b="0" i="0">
                <a:solidFill>
                  <a:srgbClr val="595959"/>
                </a:solidFill>
                <a:latin typeface="Calibri"/>
              </a:rPr>
              <a:t> — los usuarios prefieren números enteros (3, 4, 5) y califican mayormente positivo. Justifica el umbral de 3.5 para like / dislike.</a:t>
            </a:r>
          </a:p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3864"/>
                </a:solidFill>
                <a:latin typeface="Calibri"/>
              </a:rPr>
              <a:t>•  3.7B celdas posibles vs 20M con rating</a:t>
            </a:r>
            <a:r>
              <a:rPr sz="1300" b="0" i="0">
                <a:solidFill>
                  <a:srgbClr val="595959"/>
                </a:solidFill>
                <a:latin typeface="Calibri"/>
              </a:rPr>
              <a:t> — el 99.46% está vacío. Justifica MinHash + LSH: comparar todos los pares es O(N²) y casi todos darían intersección nula.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8085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Calibri"/>
              </a:rPr>
              <a:t>EDA · Power law en usuarios y películas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pic>
        <p:nvPicPr>
          <p:cNvPr id="7" name="Picture 6" descr="03_ratings_por_pelic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" y="1125435"/>
            <a:ext cx="10886045" cy="25192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438247" y="3610433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 dirty="0">
                <a:solidFill>
                  <a:srgbClr val="595959"/>
                </a:solidFill>
                <a:latin typeface="Calibri"/>
              </a:rPr>
              <a:t>Ratings </a:t>
            </a:r>
            <a:r>
              <a:rPr sz="1000" b="0" i="1" dirty="0" err="1">
                <a:solidFill>
                  <a:srgbClr val="595959"/>
                </a:solidFill>
                <a:latin typeface="Calibri"/>
              </a:rPr>
              <a:t>por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95959"/>
                </a:solidFill>
                <a:latin typeface="Calibri"/>
              </a:rPr>
              <a:t>película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 · </a:t>
            </a:r>
            <a:r>
              <a:rPr sz="1000" b="0" i="1" dirty="0" err="1">
                <a:solidFill>
                  <a:srgbClr val="595959"/>
                </a:solidFill>
                <a:latin typeface="Calibri"/>
              </a:rPr>
              <a:t>histograma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 + boxplot + curva de percentiles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2577" y="4132306"/>
            <a:ext cx="2683413" cy="10058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22577" y="4132306"/>
            <a:ext cx="73152" cy="100584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05457" y="4269466"/>
            <a:ext cx="3337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 dirty="0">
                <a:solidFill>
                  <a:srgbClr val="1F3864"/>
                </a:solidFill>
                <a:latin typeface="Calibri"/>
              </a:rPr>
              <a:t>P50 = 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5457" y="4909546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595959"/>
                </a:solidFill>
                <a:latin typeface="Calibri"/>
              </a:rPr>
              <a:t>Mitad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de las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películas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tiene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≤18 ratings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87928" y="4132306"/>
            <a:ext cx="2683413" cy="10058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687928" y="4132306"/>
            <a:ext cx="73152" cy="100584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70808" y="4269466"/>
            <a:ext cx="3337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 dirty="0">
                <a:solidFill>
                  <a:srgbClr val="1F3864"/>
                </a:solidFill>
                <a:latin typeface="Calibri"/>
              </a:rPr>
              <a:t>P75 = 205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0808" y="4909546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595959"/>
                </a:solidFill>
                <a:latin typeface="Calibri"/>
              </a:rPr>
              <a:t>75% de las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películas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con &lt;205 ratings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53279" y="4132306"/>
            <a:ext cx="2683413" cy="10058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53279" y="4132306"/>
            <a:ext cx="73152" cy="100584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36159" y="4269466"/>
            <a:ext cx="3337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 dirty="0">
                <a:solidFill>
                  <a:srgbClr val="1F3864"/>
                </a:solidFill>
                <a:latin typeface="Calibri"/>
              </a:rPr>
              <a:t>max = 67,310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159" y="4909546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595959"/>
                </a:solidFill>
                <a:latin typeface="Calibri"/>
              </a:rPr>
              <a:t>Pulp Fiction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lidera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el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catálogo</a:t>
            </a:r>
            <a:endParaRPr sz="1100" b="0" i="0" dirty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2920" y="5430263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Lectura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796023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dirty="0">
                <a:solidFill>
                  <a:srgbClr val="1F3864"/>
                </a:solidFill>
                <a:latin typeface="Calibri"/>
              </a:rPr>
              <a:t>•  Long-tail </a:t>
            </a:r>
            <a:r>
              <a:rPr sz="1200" b="1" i="0" dirty="0" err="1">
                <a:solidFill>
                  <a:srgbClr val="1F3864"/>
                </a:solidFill>
                <a:latin typeface="Calibri"/>
              </a:rPr>
              <a:t>clásico</a:t>
            </a:r>
            <a:r>
              <a:rPr sz="1200" b="1" i="0" dirty="0">
                <a:solidFill>
                  <a:srgbClr val="1F3864"/>
                </a:solidFill>
                <a:latin typeface="Calibri"/>
              </a:rPr>
              <a:t>: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la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mitad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inferior del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catálogo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apenas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concentra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ratings;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el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top 25%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acumula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casi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todos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los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datos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1200" b="1" i="0" dirty="0">
                <a:solidFill>
                  <a:srgbClr val="1F3864"/>
                </a:solidFill>
                <a:latin typeface="Calibri"/>
              </a:rPr>
              <a:t>•  Power-law </a:t>
            </a:r>
            <a:r>
              <a:rPr sz="1200" b="1" i="0" dirty="0" err="1">
                <a:solidFill>
                  <a:srgbClr val="1F3864"/>
                </a:solidFill>
                <a:latin typeface="Calibri"/>
              </a:rPr>
              <a:t>en</a:t>
            </a:r>
            <a:r>
              <a:rPr sz="1200" b="1" i="0" dirty="0">
                <a:solidFill>
                  <a:srgbClr val="1F3864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F3864"/>
                </a:solidFill>
                <a:latin typeface="Calibri"/>
              </a:rPr>
              <a:t>usuarios</a:t>
            </a:r>
            <a:r>
              <a:rPr sz="1200" b="1" i="0" dirty="0">
                <a:solidFill>
                  <a:srgbClr val="1F3864"/>
                </a:solidFill>
                <a:latin typeface="Calibri"/>
              </a:rPr>
              <a:t>: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P75 = 155 ratings,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pero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outliers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superan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los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9,000. Hay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que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decidir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si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filtrar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o no.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Calibri"/>
              </a:rPr>
              <a:t>EDA · Géneros y evolución temporal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pic>
        <p:nvPicPr>
          <p:cNvPr id="7" name="Picture 6" descr="04_distribucion_gener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5669280" cy="3474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98348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Drama (13,344) y Comedy (8,374) &gt; 50% del catálogo</a:t>
            </a:r>
          </a:p>
        </p:txBody>
      </p:sp>
      <p:pic>
        <p:nvPicPr>
          <p:cNvPr id="9" name="Picture 8" descr="06_evolucion_temp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560" y="2103120"/>
            <a:ext cx="5303520" cy="2606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498348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Picos en 2000 y 2005 · caída por 2015 (export parcial)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30352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Interpretación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669280"/>
            <a:ext cx="11247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dirty="0">
                <a:solidFill>
                  <a:srgbClr val="1F3864"/>
                </a:solidFill>
                <a:latin typeface="Calibri"/>
              </a:rPr>
              <a:t>•  </a:t>
            </a:r>
            <a:r>
              <a:rPr sz="1200" b="1" i="0" dirty="0" err="1">
                <a:solidFill>
                  <a:srgbClr val="1F3864"/>
                </a:solidFill>
                <a:latin typeface="Calibri"/>
              </a:rPr>
              <a:t>Concentración</a:t>
            </a:r>
            <a:r>
              <a:rPr sz="1200" b="1" i="0" dirty="0">
                <a:solidFill>
                  <a:srgbClr val="1F3864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F3864"/>
                </a:solidFill>
                <a:latin typeface="Calibri"/>
              </a:rPr>
              <a:t>en</a:t>
            </a:r>
            <a:r>
              <a:rPr sz="1200" b="1" i="0" dirty="0">
                <a:solidFill>
                  <a:srgbClr val="1F3864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F3864"/>
                </a:solidFill>
                <a:latin typeface="Calibri"/>
              </a:rPr>
              <a:t>pocos</a:t>
            </a:r>
            <a:r>
              <a:rPr sz="1200" b="1" i="0" dirty="0">
                <a:solidFill>
                  <a:srgbClr val="1F3864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F3864"/>
                </a:solidFill>
                <a:latin typeface="Calibri"/>
              </a:rPr>
              <a:t>géneros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— Drama y Comedy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dominan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; Western (676), Film-Noir (330) son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nichos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. Una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película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puede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tener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varios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géneros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(overlap).</a:t>
            </a:r>
          </a:p>
          <a:p>
            <a:pPr algn="l">
              <a:lnSpc>
                <a:spcPct val="115000"/>
              </a:lnSpc>
            </a:pPr>
            <a:r>
              <a:rPr sz="1200" b="1" i="0" dirty="0">
                <a:solidFill>
                  <a:srgbClr val="1F3864"/>
                </a:solidFill>
                <a:latin typeface="Calibri"/>
              </a:rPr>
              <a:t>•  Picos </a:t>
            </a:r>
            <a:r>
              <a:rPr sz="1200" b="1" i="0" dirty="0" err="1">
                <a:solidFill>
                  <a:srgbClr val="1F3864"/>
                </a:solidFill>
                <a:latin typeface="Calibri"/>
              </a:rPr>
              <a:t>en</a:t>
            </a:r>
            <a:r>
              <a:rPr sz="1200" b="1" i="0" dirty="0">
                <a:solidFill>
                  <a:srgbClr val="1F3864"/>
                </a:solidFill>
                <a:latin typeface="Calibri"/>
              </a:rPr>
              <a:t> 2000 y 2005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—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coinciden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con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el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auge del DVD y la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consolidación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de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plataformas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online;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caída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posterior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por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migración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a Netflix/YouTube.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Calibri"/>
              </a:rPr>
              <a:t>Fase 2 · Top-20 películas más calificadas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pic>
        <p:nvPicPr>
          <p:cNvPr id="7" name="Picture 6" descr="08_top20_pelicu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7315200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2440" y="1463040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El cine icónico de los 90s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920240"/>
            <a:ext cx="3749039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Pulp Fiction lidera con 67,310 ratings — un orden de magnitud por encima del promedio del catálogo.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200" b="1" i="0">
                <a:solidFill>
                  <a:srgbClr val="1F3864"/>
                </a:solidFill>
                <a:latin typeface="Calibri"/>
              </a:rPr>
              <a:t>Implementación: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00" b="0" i="0">
                <a:solidFill>
                  <a:srgbClr val="1F3864"/>
                </a:solidFill>
                <a:latin typeface="Consolas"/>
              </a:rPr>
              <a:t>ratings.groupBy("movieId").count()</a:t>
            </a:r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sz="1000" b="0" i="0">
                <a:solidFill>
                  <a:srgbClr val="1F3864"/>
                </a:solidFill>
                <a:latin typeface="Consolas"/>
              </a:rPr>
              <a:t>.join(movies, "movieId")</a:t>
            </a:r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sz="1000" b="0" i="0">
                <a:solidFill>
                  <a:srgbClr val="1F3864"/>
                </a:solidFill>
                <a:latin typeface="Consolas"/>
              </a:rPr>
              <a:t>.orderBy(desc("count"))</a:t>
            </a:r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sz="1000" b="0" i="0">
                <a:solidFill>
                  <a:srgbClr val="1F3864"/>
                </a:solidFill>
                <a:latin typeface="Consolas"/>
              </a:rPr>
              <a:t>.limit(20)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4572000"/>
            <a:ext cx="3749039" cy="13716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92440" y="4572000"/>
            <a:ext cx="73152" cy="13716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4709160"/>
            <a:ext cx="347471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67,310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5349240"/>
            <a:ext cx="34747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ratings de Pulp Fiction
(la película más calificada del dataset)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Calibri"/>
              </a:rPr>
              <a:t>Fase 2 · DataFrame vs RDD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Speedup de DataFrame sobre RDD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5486400" cy="10058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73152" cy="100584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05740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>
                <a:solidFill>
                  <a:srgbClr val="1F3864"/>
                </a:solidFill>
                <a:latin typeface="Calibri"/>
              </a:rPr>
              <a:t>~119×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05740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Conteo por película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46888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(inflado por caché en memoria)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108960"/>
            <a:ext cx="5486400" cy="10058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3108960"/>
            <a:ext cx="73152" cy="100584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20040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>
                <a:solidFill>
                  <a:srgbClr val="1F3864"/>
                </a:solidFill>
                <a:latin typeface="Calibri"/>
              </a:rPr>
              <a:t>~10×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20040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Top-20 con join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61188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más complejo · representativo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251960"/>
            <a:ext cx="5486400" cy="10058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4251960"/>
            <a:ext cx="73152" cy="100584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34340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>
                <a:solidFill>
                  <a:srgbClr val="1F3864"/>
                </a:solidFill>
                <a:latin typeface="Calibri"/>
              </a:rPr>
              <a:t>~14×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434340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Conteo por usuario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475488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agregación simple sin join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¿Por qué DataFrame gana?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874519"/>
            <a:ext cx="548640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3864"/>
                </a:solidFill>
                <a:latin typeface="Calibri"/>
              </a:rPr>
              <a:t>•  Catalyst Optimizer</a:t>
            </a:r>
            <a:r>
              <a:rPr sz="1300" b="0" i="0">
                <a:solidFill>
                  <a:srgbClr val="595959"/>
                </a:solidFill>
                <a:latin typeface="Calibri"/>
              </a:rPr>
              <a:t> analiza el plan lógico y reorganiza filtros, joins y proyecciones para minimizar shuffles.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300" b="1" i="0">
                <a:solidFill>
                  <a:srgbClr val="1F3864"/>
                </a:solidFill>
                <a:latin typeface="Calibri"/>
              </a:rPr>
              <a:t>•  Tungsten engine</a:t>
            </a:r>
            <a:r>
              <a:rPr sz="1300" b="0" i="0">
                <a:solidFill>
                  <a:srgbClr val="595959"/>
                </a:solidFill>
                <a:latin typeface="Calibri"/>
              </a:rPr>
              <a:t> compila a bytecode JVM optimizado y trabaja con memoria off-heap (sin overhead de objetos).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300" b="1" i="0">
                <a:solidFill>
                  <a:srgbClr val="1F3864"/>
                </a:solidFill>
                <a:latin typeface="Calibri"/>
              </a:rPr>
              <a:t>•  RDD</a:t>
            </a:r>
            <a:r>
              <a:rPr sz="1300" b="0" i="0">
                <a:solidFill>
                  <a:srgbClr val="595959"/>
                </a:solidFill>
                <a:latin typeface="Calibri"/>
              </a:rPr>
              <a:t> procesa lambdas Python una a una, sin optimizaciones globales — útil para lógica que SQL no expresa, pero más lento por defecto.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5577840"/>
            <a:ext cx="5486400" cy="50292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Para queries SQL-style: DataFrame es la opción por defecto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8288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493776"/>
            <a:ext cx="54864" cy="5029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02336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Calibri"/>
              </a:rPr>
              <a:t>Fase 3 · Representación de películas como conjuntos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08176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Opción A · cada película = conjunto de usuarios con like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11096"/>
            <a:ext cx="54864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1" dirty="0">
                <a:solidFill>
                  <a:srgbClr val="1F3864"/>
                </a:solidFill>
                <a:latin typeface="Calibri"/>
              </a:rPr>
              <a:t>Pulp Fiction</a:t>
            </a:r>
            <a:r>
              <a:rPr sz="1300" b="0" i="0" dirty="0">
                <a:solidFill>
                  <a:srgbClr val="595959"/>
                </a:solidFill>
                <a:latin typeface="Consolas"/>
              </a:rPr>
              <a:t> = {u1, u5, u9, u23, …}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1" i="1" dirty="0">
                <a:solidFill>
                  <a:srgbClr val="1F3864"/>
                </a:solidFill>
                <a:latin typeface="Calibri"/>
              </a:rPr>
              <a:t>Forrest Gump</a:t>
            </a:r>
            <a:r>
              <a:rPr sz="1300" b="0" i="0" dirty="0">
                <a:solidFill>
                  <a:srgbClr val="595959"/>
                </a:solidFill>
                <a:latin typeface="Consolas"/>
              </a:rPr>
              <a:t> = {u1, u3, u9, u41, …}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endParaRPr sz="1300" b="0" i="0" dirty="0">
              <a:solidFill>
                <a:srgbClr val="595959"/>
              </a:solidFill>
              <a:latin typeface="Consolas"/>
            </a:endParaRP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400" b="1" i="0" dirty="0">
                <a:solidFill>
                  <a:srgbClr val="1F3864"/>
                </a:solidFill>
                <a:latin typeface="Calibri"/>
              </a:rPr>
              <a:t>Jaccard:  J(A,B) = |A∩B| / |A∪B|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200" b="0" i="1" dirty="0">
                <a:solidFill>
                  <a:srgbClr val="595959"/>
                </a:solidFill>
                <a:latin typeface="Calibri"/>
              </a:rPr>
              <a:t>Solo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presencia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/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ausencia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, no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frecuencia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. Rango [0,1].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562856"/>
            <a:ext cx="5486400" cy="14630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4562856"/>
            <a:ext cx="73152" cy="146304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4654296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Filtro de calidad: ≥ 50 likes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065776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3864"/>
                </a:solidFill>
                <a:latin typeface="Calibri"/>
              </a:rPr>
              <a:t>8,362 películas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 con firma. Por debajo de 50 elementos el Jaccard se vuelve inestable (cambio &gt;1.5% al añadir un usuario).</a:t>
            </a:r>
          </a:p>
        </p:txBody>
      </p:sp>
      <p:pic>
        <p:nvPicPr>
          <p:cNvPr id="13" name="Picture 12" descr="10_sensibilidad_jac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996696"/>
            <a:ext cx="5394960" cy="3108960"/>
          </a:xfrm>
          <a:prstGeom prst="rect">
            <a:avLst/>
          </a:prstGeom>
        </p:spPr>
      </p:pic>
      <p:pic>
        <p:nvPicPr>
          <p:cNvPr id="15" name="Picture 14" descr="11_analisis_muestra_jac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025" y="4280952"/>
            <a:ext cx="5897055" cy="2286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71812" y="6569085"/>
            <a:ext cx="5252936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 dirty="0" err="1">
                <a:solidFill>
                  <a:srgbClr val="595959"/>
                </a:solidFill>
                <a:latin typeface="Calibri"/>
              </a:rPr>
              <a:t>Muestra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 de 200 </a:t>
            </a:r>
            <a:r>
              <a:rPr sz="1000" b="0" i="1" dirty="0" err="1">
                <a:solidFill>
                  <a:srgbClr val="595959"/>
                </a:solidFill>
                <a:latin typeface="Calibri"/>
              </a:rPr>
              <a:t>películas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 → 19,900 pares </a:t>
            </a:r>
            <a:r>
              <a:rPr sz="1000" b="0" i="1" dirty="0" err="1">
                <a:solidFill>
                  <a:srgbClr val="595959"/>
                </a:solidFill>
                <a:latin typeface="Calibri"/>
              </a:rPr>
              <a:t>como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 ground truth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FEF85-B3CD-4A80-3861-249344D4A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B725F13-328A-E285-6441-FABBCAC07214}"/>
              </a:ext>
            </a:extLst>
          </p:cNvPr>
          <p:cNvSpPr/>
          <p:nvPr/>
        </p:nvSpPr>
        <p:spPr>
          <a:xfrm>
            <a:off x="0" y="291048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5D58FC-4290-591D-DD5F-3E33B726AFE8}"/>
              </a:ext>
            </a:extLst>
          </p:cNvPr>
          <p:cNvSpPr/>
          <p:nvPr/>
        </p:nvSpPr>
        <p:spPr>
          <a:xfrm>
            <a:off x="411480" y="493776"/>
            <a:ext cx="54864" cy="5029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29360D-375C-9183-3AB6-F35FBA9EF983}"/>
              </a:ext>
            </a:extLst>
          </p:cNvPr>
          <p:cNvSpPr txBox="1"/>
          <p:nvPr/>
        </p:nvSpPr>
        <p:spPr>
          <a:xfrm>
            <a:off x="640080" y="402336"/>
            <a:ext cx="10515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1F3864"/>
                </a:solidFill>
                <a:latin typeface="Calibri"/>
              </a:rPr>
              <a:t>Fase 3 · </a:t>
            </a:r>
            <a:r>
              <a:rPr lang="en-US" sz="2800" b="1" i="0" dirty="0">
                <a:solidFill>
                  <a:srgbClr val="1F3864"/>
                </a:solidFill>
                <a:latin typeface="Calibri"/>
              </a:rPr>
              <a:t>Los pares </a:t>
            </a:r>
            <a:r>
              <a:rPr lang="en-US" sz="2800" b="1" i="0" dirty="0" err="1">
                <a:solidFill>
                  <a:srgbClr val="1F3864"/>
                </a:solidFill>
                <a:latin typeface="Calibri"/>
              </a:rPr>
              <a:t>similares</a:t>
            </a:r>
            <a:r>
              <a:rPr lang="en-US" sz="2800" b="1" i="0" dirty="0">
                <a:solidFill>
                  <a:srgbClr val="1F3864"/>
                </a:solidFill>
                <a:latin typeface="Calibri"/>
              </a:rPr>
              <a:t> son </a:t>
            </a:r>
            <a:r>
              <a:rPr lang="en-US" sz="2800" b="1" i="0" dirty="0" err="1">
                <a:solidFill>
                  <a:srgbClr val="1F3864"/>
                </a:solidFill>
                <a:latin typeface="Calibri"/>
              </a:rPr>
              <a:t>raros</a:t>
            </a:r>
            <a:endParaRPr sz="2800" b="1" i="0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961331-84CB-03BF-DF49-FB311DE74E9D}"/>
              </a:ext>
            </a:extLst>
          </p:cNvPr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0E4EAF-F78A-240D-2BA1-EEDA1B838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240" y="1425779"/>
            <a:ext cx="9092184" cy="4416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541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Calibri"/>
              </a:rPr>
              <a:t>Fase 3 · MinHash aproxima Jaccard a una fracción del costo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pic>
        <p:nvPicPr>
          <p:cNvPr id="7" name="Picture 6" descr="12_jaccard_exacto_vs_minh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68580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23494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 dirty="0" err="1">
                <a:solidFill>
                  <a:srgbClr val="595959"/>
                </a:solidFill>
                <a:latin typeface="Calibri"/>
              </a:rPr>
              <a:t>Distribución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 de J </a:t>
            </a:r>
            <a:r>
              <a:rPr sz="1000" b="0" i="1" dirty="0" err="1">
                <a:solidFill>
                  <a:srgbClr val="595959"/>
                </a:solidFill>
                <a:latin typeface="Calibri"/>
              </a:rPr>
              <a:t>exacto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 · scatter J </a:t>
            </a:r>
            <a:r>
              <a:rPr sz="1000" b="0" i="1" dirty="0" err="1">
                <a:solidFill>
                  <a:srgbClr val="595959"/>
                </a:solidFill>
                <a:latin typeface="Calibri"/>
              </a:rPr>
              <a:t>exacto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 vs </a:t>
            </a:r>
            <a:r>
              <a:rPr sz="1000" b="0" i="1" dirty="0" err="1">
                <a:solidFill>
                  <a:srgbClr val="595959"/>
                </a:solidFill>
                <a:latin typeface="Calibri"/>
              </a:rPr>
              <a:t>MinHash</a:t>
            </a:r>
            <a:endParaRPr sz="1000" b="0" i="1" dirty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80960" y="141732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Métricas vs Jaccard exacto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1920240"/>
            <a:ext cx="4206240" cy="9144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80960" y="1920240"/>
            <a:ext cx="73152" cy="9144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0" y="2057400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MAE 0.0104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69748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Error medio absoluto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2926080"/>
            <a:ext cx="4206240" cy="9144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80960" y="2926080"/>
            <a:ext cx="73152" cy="9144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3063240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0.8894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70332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Correlación de Pearson (p &lt; 1e-300)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3931920"/>
            <a:ext cx="4206240" cy="9144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80960" y="3931920"/>
            <a:ext cx="73152" cy="9144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63840" y="4069080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100 hashes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70916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595959"/>
                </a:solidFill>
                <a:latin typeface="Calibri"/>
              </a:rPr>
              <a:t>Vectores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de 100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enteros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vs sets de 500+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usuarios</a:t>
            </a:r>
            <a:endParaRPr sz="1100" b="0" i="0" dirty="0">
              <a:solidFill>
                <a:srgbClr val="59595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DB854D3-0C76-95BF-1A40-9BB6D69EE282}"/>
              </a:ext>
            </a:extLst>
          </p:cNvPr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79EAE8-1379-9F2D-FAA5-DB04BB4E5167}"/>
              </a:ext>
            </a:extLst>
          </p:cNvPr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Calibri"/>
              </a:rPr>
              <a:t>Fase 3 · LSH · trade-off precisión vs recall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68EB4-4577-B75C-326D-5EA407D18DE8}"/>
              </a:ext>
            </a:extLst>
          </p:cNvPr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 dirty="0">
                <a:solidFill>
                  <a:srgbClr val="595959"/>
                </a:solidFill>
                <a:latin typeface="Calibri"/>
              </a:rPr>
              <a:t>Proyecto 1 · Data Mining UTEC · </a:t>
            </a:r>
            <a:r>
              <a:rPr sz="900" b="0" i="1" dirty="0" err="1">
                <a:solidFill>
                  <a:srgbClr val="595959"/>
                </a:solidFill>
                <a:latin typeface="Calibri"/>
              </a:rPr>
              <a:t>MovieLens</a:t>
            </a:r>
            <a:r>
              <a:rPr sz="900" b="0" i="1" dirty="0">
                <a:solidFill>
                  <a:srgbClr val="595959"/>
                </a:solidFill>
                <a:latin typeface="Calibri"/>
              </a:rPr>
              <a:t> 20M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51B629-55D4-EC32-E2E1-D055B88F4E50}"/>
              </a:ext>
            </a:extLst>
          </p:cNvPr>
          <p:cNvSpPr txBox="1"/>
          <p:nvPr/>
        </p:nvSpPr>
        <p:spPr>
          <a:xfrm>
            <a:off x="7894735" y="14173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1F3864"/>
                </a:solidFill>
                <a:latin typeface="Calibri"/>
              </a:rPr>
              <a:t>Resultados</a:t>
            </a:r>
            <a:r>
              <a:rPr sz="1400" b="1" i="0" dirty="0">
                <a:solidFill>
                  <a:srgbClr val="1F3864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1F3864"/>
                </a:solidFill>
                <a:latin typeface="Calibri"/>
              </a:rPr>
              <a:t>por</a:t>
            </a:r>
            <a:r>
              <a:rPr sz="1400" b="1" i="0" dirty="0">
                <a:solidFill>
                  <a:srgbClr val="1F3864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1F3864"/>
                </a:solidFill>
                <a:latin typeface="Calibri"/>
              </a:rPr>
              <a:t>configuración</a:t>
            </a:r>
            <a:endParaRPr sz="1400" b="1" i="0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61F8CE-05F3-A9E1-81D5-35CFF0AF6615}"/>
              </a:ext>
            </a:extLst>
          </p:cNvPr>
          <p:cNvSpPr/>
          <p:nvPr/>
        </p:nvSpPr>
        <p:spPr>
          <a:xfrm>
            <a:off x="7894735" y="1771957"/>
            <a:ext cx="640080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B4882B-288F-6996-4202-BFF205BF61E8}"/>
              </a:ext>
            </a:extLst>
          </p:cNvPr>
          <p:cNvSpPr txBox="1"/>
          <p:nvPr/>
        </p:nvSpPr>
        <p:spPr>
          <a:xfrm>
            <a:off x="7894735" y="1771957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4E0F60-0B9D-E76D-720F-62DAB3A1C6F6}"/>
              </a:ext>
            </a:extLst>
          </p:cNvPr>
          <p:cNvSpPr/>
          <p:nvPr/>
        </p:nvSpPr>
        <p:spPr>
          <a:xfrm>
            <a:off x="8534815" y="1771957"/>
            <a:ext cx="640080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2D03B8-3CF6-B2D2-8C63-9FADA794DDDB}"/>
              </a:ext>
            </a:extLst>
          </p:cNvPr>
          <p:cNvSpPr txBox="1"/>
          <p:nvPr/>
        </p:nvSpPr>
        <p:spPr>
          <a:xfrm>
            <a:off x="8534815" y="1771957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9A25DB-75A7-A4BF-4669-071AC70F972E}"/>
              </a:ext>
            </a:extLst>
          </p:cNvPr>
          <p:cNvSpPr/>
          <p:nvPr/>
        </p:nvSpPr>
        <p:spPr>
          <a:xfrm>
            <a:off x="9174895" y="1771957"/>
            <a:ext cx="1005840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493478-F96F-65B5-8240-30787A0D9C5E}"/>
              </a:ext>
            </a:extLst>
          </p:cNvPr>
          <p:cNvSpPr txBox="1"/>
          <p:nvPr/>
        </p:nvSpPr>
        <p:spPr>
          <a:xfrm>
            <a:off x="9174895" y="1771957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Cand.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7B07C4-B829-B1A8-9DE3-D8B7F5AE0E98}"/>
              </a:ext>
            </a:extLst>
          </p:cNvPr>
          <p:cNvSpPr/>
          <p:nvPr/>
        </p:nvSpPr>
        <p:spPr>
          <a:xfrm>
            <a:off x="10180735" y="1771957"/>
            <a:ext cx="868680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54D575-ACF0-745B-7A26-18CE943B3C66}"/>
              </a:ext>
            </a:extLst>
          </p:cNvPr>
          <p:cNvSpPr txBox="1"/>
          <p:nvPr/>
        </p:nvSpPr>
        <p:spPr>
          <a:xfrm>
            <a:off x="10180735" y="1771957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6BAC53-B17F-6C92-20ED-49081D58421D}"/>
              </a:ext>
            </a:extLst>
          </p:cNvPr>
          <p:cNvSpPr/>
          <p:nvPr/>
        </p:nvSpPr>
        <p:spPr>
          <a:xfrm>
            <a:off x="11049415" y="1771957"/>
            <a:ext cx="868680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FCAF2F-D06F-FD41-D927-10FCE531614F}"/>
              </a:ext>
            </a:extLst>
          </p:cNvPr>
          <p:cNvSpPr txBox="1"/>
          <p:nvPr/>
        </p:nvSpPr>
        <p:spPr>
          <a:xfrm>
            <a:off x="11049415" y="1771957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70A030-7A7C-83F1-9313-D3DB75B639E6}"/>
              </a:ext>
            </a:extLst>
          </p:cNvPr>
          <p:cNvSpPr/>
          <p:nvPr/>
        </p:nvSpPr>
        <p:spPr>
          <a:xfrm>
            <a:off x="7894735" y="2183437"/>
            <a:ext cx="6400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57AA5A-6A6D-C38B-840A-E2D14D565C4B}"/>
              </a:ext>
            </a:extLst>
          </p:cNvPr>
          <p:cNvSpPr txBox="1"/>
          <p:nvPr/>
        </p:nvSpPr>
        <p:spPr>
          <a:xfrm>
            <a:off x="7894735" y="2183437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100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3B4D2E-FCE7-E68F-AA8E-B605D1196F3E}"/>
              </a:ext>
            </a:extLst>
          </p:cNvPr>
          <p:cNvSpPr/>
          <p:nvPr/>
        </p:nvSpPr>
        <p:spPr>
          <a:xfrm>
            <a:off x="8534815" y="2183437"/>
            <a:ext cx="6400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E557A8-5D28-1F7C-98C6-E2F38F8A9A91}"/>
              </a:ext>
            </a:extLst>
          </p:cNvPr>
          <p:cNvSpPr txBox="1"/>
          <p:nvPr/>
        </p:nvSpPr>
        <p:spPr>
          <a:xfrm>
            <a:off x="8534815" y="2183437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BED0DE-A813-C0E1-0F5B-18924390B3A9}"/>
              </a:ext>
            </a:extLst>
          </p:cNvPr>
          <p:cNvSpPr/>
          <p:nvPr/>
        </p:nvSpPr>
        <p:spPr>
          <a:xfrm>
            <a:off x="9174895" y="2183437"/>
            <a:ext cx="1005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F70782-D1D2-9F6E-2C44-D8AC45EAC29E}"/>
              </a:ext>
            </a:extLst>
          </p:cNvPr>
          <p:cNvSpPr txBox="1"/>
          <p:nvPr/>
        </p:nvSpPr>
        <p:spPr>
          <a:xfrm>
            <a:off x="9174895" y="2183437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13,090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846A2A-AC81-CB2A-A18D-F0A300B1DAE1}"/>
              </a:ext>
            </a:extLst>
          </p:cNvPr>
          <p:cNvSpPr/>
          <p:nvPr/>
        </p:nvSpPr>
        <p:spPr>
          <a:xfrm>
            <a:off x="10180735" y="2183437"/>
            <a:ext cx="8686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811229-9F42-7AEC-E57D-EA5F8E9B3E0D}"/>
              </a:ext>
            </a:extLst>
          </p:cNvPr>
          <p:cNvSpPr txBox="1"/>
          <p:nvPr/>
        </p:nvSpPr>
        <p:spPr>
          <a:xfrm>
            <a:off x="10180735" y="2183437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0.031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8159BAE-C4E4-957E-57FA-ECBB0D6B2CA7}"/>
              </a:ext>
            </a:extLst>
          </p:cNvPr>
          <p:cNvSpPr/>
          <p:nvPr/>
        </p:nvSpPr>
        <p:spPr>
          <a:xfrm>
            <a:off x="11049415" y="2183437"/>
            <a:ext cx="8686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B13E0C-204E-65B5-C8D2-FF387A640D10}"/>
              </a:ext>
            </a:extLst>
          </p:cNvPr>
          <p:cNvSpPr txBox="1"/>
          <p:nvPr/>
        </p:nvSpPr>
        <p:spPr>
          <a:xfrm>
            <a:off x="11049415" y="2183437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1.000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39953E6-00AC-7309-C407-B25AC70C4F8E}"/>
              </a:ext>
            </a:extLst>
          </p:cNvPr>
          <p:cNvSpPr/>
          <p:nvPr/>
        </p:nvSpPr>
        <p:spPr>
          <a:xfrm>
            <a:off x="7894735" y="2594917"/>
            <a:ext cx="6400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DD014F-64F8-3DBC-F5F5-8C63025DF49F}"/>
              </a:ext>
            </a:extLst>
          </p:cNvPr>
          <p:cNvSpPr txBox="1"/>
          <p:nvPr/>
        </p:nvSpPr>
        <p:spPr>
          <a:xfrm>
            <a:off x="7894735" y="2594917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50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357A85A-48FA-CE70-B17D-29837B442AA9}"/>
              </a:ext>
            </a:extLst>
          </p:cNvPr>
          <p:cNvSpPr/>
          <p:nvPr/>
        </p:nvSpPr>
        <p:spPr>
          <a:xfrm>
            <a:off x="8534815" y="2594917"/>
            <a:ext cx="6400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9F6232-60C2-0131-7F13-8142EC032F01}"/>
              </a:ext>
            </a:extLst>
          </p:cNvPr>
          <p:cNvSpPr txBox="1"/>
          <p:nvPr/>
        </p:nvSpPr>
        <p:spPr>
          <a:xfrm>
            <a:off x="8534815" y="2594917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3CDCF8C-0D50-ABC6-06ED-61CE581C9BFB}"/>
              </a:ext>
            </a:extLst>
          </p:cNvPr>
          <p:cNvSpPr/>
          <p:nvPr/>
        </p:nvSpPr>
        <p:spPr>
          <a:xfrm>
            <a:off x="9174895" y="2594917"/>
            <a:ext cx="1005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A668E8-7364-F777-FA3E-8BC1CDAD6FE5}"/>
              </a:ext>
            </a:extLst>
          </p:cNvPr>
          <p:cNvSpPr txBox="1"/>
          <p:nvPr/>
        </p:nvSpPr>
        <p:spPr>
          <a:xfrm>
            <a:off x="9174895" y="2594917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1,101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431A164-C345-9278-2AB7-07B2B36A2E11}"/>
              </a:ext>
            </a:extLst>
          </p:cNvPr>
          <p:cNvSpPr/>
          <p:nvPr/>
        </p:nvSpPr>
        <p:spPr>
          <a:xfrm>
            <a:off x="10180735" y="2594917"/>
            <a:ext cx="8686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47C959-FF0E-1EB5-A1F6-9400959E3CAA}"/>
              </a:ext>
            </a:extLst>
          </p:cNvPr>
          <p:cNvSpPr txBox="1"/>
          <p:nvPr/>
        </p:nvSpPr>
        <p:spPr>
          <a:xfrm>
            <a:off x="10180735" y="2594917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0.243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AB55AD9-4F65-5BF1-AF07-7F0BA37341F5}"/>
              </a:ext>
            </a:extLst>
          </p:cNvPr>
          <p:cNvSpPr/>
          <p:nvPr/>
        </p:nvSpPr>
        <p:spPr>
          <a:xfrm>
            <a:off x="11049415" y="2594917"/>
            <a:ext cx="8686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217E0EF-4991-4877-D7C7-434724C372B7}"/>
              </a:ext>
            </a:extLst>
          </p:cNvPr>
          <p:cNvSpPr txBox="1"/>
          <p:nvPr/>
        </p:nvSpPr>
        <p:spPr>
          <a:xfrm>
            <a:off x="11049415" y="2594917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0.663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DCB9DE7-7C0E-5B20-0C96-7A88806664E9}"/>
              </a:ext>
            </a:extLst>
          </p:cNvPr>
          <p:cNvSpPr/>
          <p:nvPr/>
        </p:nvSpPr>
        <p:spPr>
          <a:xfrm>
            <a:off x="7894735" y="3006397"/>
            <a:ext cx="640080" cy="411480"/>
          </a:xfrm>
          <a:prstGeom prst="rect">
            <a:avLst/>
          </a:prstGeom>
          <a:solidFill>
            <a:srgbClr val="F8F9FA"/>
          </a:solidFill>
          <a:ln w="9525">
            <a:solidFill>
              <a:srgbClr val="F4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C5224DD-83F2-6920-3525-C5BDA0533079}"/>
              </a:ext>
            </a:extLst>
          </p:cNvPr>
          <p:cNvSpPr txBox="1"/>
          <p:nvPr/>
        </p:nvSpPr>
        <p:spPr>
          <a:xfrm>
            <a:off x="7894735" y="3006397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3864"/>
                </a:solidFill>
                <a:latin typeface="Calibri"/>
              </a:rPr>
              <a:t>25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B105734-33A4-D5E0-390A-9B8E3C5606A9}"/>
              </a:ext>
            </a:extLst>
          </p:cNvPr>
          <p:cNvSpPr/>
          <p:nvPr/>
        </p:nvSpPr>
        <p:spPr>
          <a:xfrm>
            <a:off x="8534815" y="3006397"/>
            <a:ext cx="640080" cy="411480"/>
          </a:xfrm>
          <a:prstGeom prst="rect">
            <a:avLst/>
          </a:prstGeom>
          <a:solidFill>
            <a:srgbClr val="F8F9FA"/>
          </a:solidFill>
          <a:ln w="9525">
            <a:solidFill>
              <a:srgbClr val="F4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2733B6E-B74E-ECDD-5758-82C6D91D3030}"/>
              </a:ext>
            </a:extLst>
          </p:cNvPr>
          <p:cNvSpPr txBox="1"/>
          <p:nvPr/>
        </p:nvSpPr>
        <p:spPr>
          <a:xfrm>
            <a:off x="8534815" y="3006397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3864"/>
                </a:solidFill>
                <a:latin typeface="Calibri"/>
              </a:rPr>
              <a:t>4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0EA055D-75DC-5225-8B6A-D7ACF5481B10}"/>
              </a:ext>
            </a:extLst>
          </p:cNvPr>
          <p:cNvSpPr/>
          <p:nvPr/>
        </p:nvSpPr>
        <p:spPr>
          <a:xfrm>
            <a:off x="9174895" y="3006397"/>
            <a:ext cx="1005840" cy="411480"/>
          </a:xfrm>
          <a:prstGeom prst="rect">
            <a:avLst/>
          </a:prstGeom>
          <a:solidFill>
            <a:srgbClr val="F8F9FA"/>
          </a:solidFill>
          <a:ln w="9525">
            <a:solidFill>
              <a:srgbClr val="F4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147FDD-8A63-35D7-082A-ADCE57A52AF0}"/>
              </a:ext>
            </a:extLst>
          </p:cNvPr>
          <p:cNvSpPr txBox="1"/>
          <p:nvPr/>
        </p:nvSpPr>
        <p:spPr>
          <a:xfrm>
            <a:off x="9174895" y="3006397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3864"/>
                </a:solidFill>
                <a:latin typeface="Calibri"/>
              </a:rPr>
              <a:t>20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B124B12-731E-5F56-93A2-1EA4271497A6}"/>
              </a:ext>
            </a:extLst>
          </p:cNvPr>
          <p:cNvSpPr/>
          <p:nvPr/>
        </p:nvSpPr>
        <p:spPr>
          <a:xfrm>
            <a:off x="10180735" y="3006397"/>
            <a:ext cx="868680" cy="411480"/>
          </a:xfrm>
          <a:prstGeom prst="rect">
            <a:avLst/>
          </a:prstGeom>
          <a:solidFill>
            <a:srgbClr val="F8F9FA"/>
          </a:solidFill>
          <a:ln w="9525">
            <a:solidFill>
              <a:srgbClr val="F4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B7F852F-4015-A4B4-896F-87C75C7B8590}"/>
              </a:ext>
            </a:extLst>
          </p:cNvPr>
          <p:cNvSpPr txBox="1"/>
          <p:nvPr/>
        </p:nvSpPr>
        <p:spPr>
          <a:xfrm>
            <a:off x="10180735" y="3006397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3864"/>
                </a:solidFill>
                <a:latin typeface="Calibri"/>
              </a:rPr>
              <a:t>0.850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811FE0D-D992-BF63-9A79-8B31653F8632}"/>
              </a:ext>
            </a:extLst>
          </p:cNvPr>
          <p:cNvSpPr/>
          <p:nvPr/>
        </p:nvSpPr>
        <p:spPr>
          <a:xfrm>
            <a:off x="11049415" y="3006397"/>
            <a:ext cx="868680" cy="411480"/>
          </a:xfrm>
          <a:prstGeom prst="rect">
            <a:avLst/>
          </a:prstGeom>
          <a:solidFill>
            <a:srgbClr val="F8F9FA"/>
          </a:solidFill>
          <a:ln w="9525">
            <a:solidFill>
              <a:srgbClr val="F4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94E01D4-1F9F-FCE4-AE33-B46EBB7FC01D}"/>
              </a:ext>
            </a:extLst>
          </p:cNvPr>
          <p:cNvSpPr txBox="1"/>
          <p:nvPr/>
        </p:nvSpPr>
        <p:spPr>
          <a:xfrm>
            <a:off x="11049415" y="3006397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3864"/>
                </a:solidFill>
                <a:latin typeface="Calibri"/>
              </a:rPr>
              <a:t>0.042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FD63329-9879-4C71-415E-8C41BD1B55CC}"/>
              </a:ext>
            </a:extLst>
          </p:cNvPr>
          <p:cNvSpPr/>
          <p:nvPr/>
        </p:nvSpPr>
        <p:spPr>
          <a:xfrm>
            <a:off x="7894735" y="3417877"/>
            <a:ext cx="6400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50B5A25-E4F6-830F-1478-67B555CED8CC}"/>
              </a:ext>
            </a:extLst>
          </p:cNvPr>
          <p:cNvSpPr txBox="1"/>
          <p:nvPr/>
        </p:nvSpPr>
        <p:spPr>
          <a:xfrm>
            <a:off x="7894735" y="3417877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20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E730D8C-228E-B7E1-7477-A29F6404042B}"/>
              </a:ext>
            </a:extLst>
          </p:cNvPr>
          <p:cNvSpPr/>
          <p:nvPr/>
        </p:nvSpPr>
        <p:spPr>
          <a:xfrm>
            <a:off x="8534815" y="3417877"/>
            <a:ext cx="6400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C13115-7E55-605A-6B40-CB7B1FEF20BB}"/>
              </a:ext>
            </a:extLst>
          </p:cNvPr>
          <p:cNvSpPr txBox="1"/>
          <p:nvPr/>
        </p:nvSpPr>
        <p:spPr>
          <a:xfrm>
            <a:off x="8534815" y="3417877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7868EC9-E2DD-BCC6-72E4-EB934143F993}"/>
              </a:ext>
            </a:extLst>
          </p:cNvPr>
          <p:cNvSpPr/>
          <p:nvPr/>
        </p:nvSpPr>
        <p:spPr>
          <a:xfrm>
            <a:off x="9174895" y="3417877"/>
            <a:ext cx="1005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E96DCC-4B9E-0A9F-18EF-4270064B609F}"/>
              </a:ext>
            </a:extLst>
          </p:cNvPr>
          <p:cNvSpPr txBox="1"/>
          <p:nvPr/>
        </p:nvSpPr>
        <p:spPr>
          <a:xfrm>
            <a:off x="9174895" y="3417877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1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35A1E3C-8B80-F052-6714-9A5B79C1C98B}"/>
              </a:ext>
            </a:extLst>
          </p:cNvPr>
          <p:cNvSpPr/>
          <p:nvPr/>
        </p:nvSpPr>
        <p:spPr>
          <a:xfrm>
            <a:off x="10180735" y="3417877"/>
            <a:ext cx="8686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7A0DB66-F974-7A55-4D22-CBB99E3C8FE2}"/>
              </a:ext>
            </a:extLst>
          </p:cNvPr>
          <p:cNvSpPr txBox="1"/>
          <p:nvPr/>
        </p:nvSpPr>
        <p:spPr>
          <a:xfrm>
            <a:off x="10180735" y="3417877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0.000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EC91A1E-2450-80AA-533D-1E6BD2017C1D}"/>
              </a:ext>
            </a:extLst>
          </p:cNvPr>
          <p:cNvSpPr/>
          <p:nvPr/>
        </p:nvSpPr>
        <p:spPr>
          <a:xfrm>
            <a:off x="11049415" y="3417877"/>
            <a:ext cx="8686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EC48BCF-BEEE-8F8B-754F-7AEDE27679EE}"/>
              </a:ext>
            </a:extLst>
          </p:cNvPr>
          <p:cNvSpPr txBox="1"/>
          <p:nvPr/>
        </p:nvSpPr>
        <p:spPr>
          <a:xfrm>
            <a:off x="11049415" y="3417877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0.000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21B602C-B0ED-9ED6-C17D-02CDE2E21492}"/>
              </a:ext>
            </a:extLst>
          </p:cNvPr>
          <p:cNvSpPr/>
          <p:nvPr/>
        </p:nvSpPr>
        <p:spPr>
          <a:xfrm>
            <a:off x="7894735" y="4051778"/>
            <a:ext cx="4023359" cy="12801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402681B-43B7-4918-AA8F-A13EBDE6E673}"/>
              </a:ext>
            </a:extLst>
          </p:cNvPr>
          <p:cNvSpPr txBox="1"/>
          <p:nvPr/>
        </p:nvSpPr>
        <p:spPr>
          <a:xfrm>
            <a:off x="7988894" y="4143218"/>
            <a:ext cx="378195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 err="1">
                <a:solidFill>
                  <a:srgbClr val="F4B400"/>
                </a:solidFill>
                <a:latin typeface="Calibri"/>
              </a:rPr>
              <a:t>Configuración</a:t>
            </a:r>
            <a:r>
              <a:rPr sz="1200" b="1" i="0" dirty="0">
                <a:solidFill>
                  <a:srgbClr val="F4B400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F4B400"/>
                </a:solidFill>
                <a:latin typeface="Calibri"/>
              </a:rPr>
              <a:t>óptima</a:t>
            </a:r>
            <a:endParaRPr sz="1200" b="1" i="0" dirty="0">
              <a:solidFill>
                <a:srgbClr val="F4B400"/>
              </a:solidFill>
              <a:latin typeface="Calibri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AFD8EF9-CE9A-DEFC-473F-CC259158EF73}"/>
              </a:ext>
            </a:extLst>
          </p:cNvPr>
          <p:cNvSpPr txBox="1"/>
          <p:nvPr/>
        </p:nvSpPr>
        <p:spPr>
          <a:xfrm>
            <a:off x="7988894" y="4508978"/>
            <a:ext cx="3781958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Calibri"/>
              </a:rPr>
              <a:t>b = 25  ·  r = 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B5C2EE8-3EF8-6771-F2BC-C4DA24977436}"/>
              </a:ext>
            </a:extLst>
          </p:cNvPr>
          <p:cNvSpPr txBox="1"/>
          <p:nvPr/>
        </p:nvSpPr>
        <p:spPr>
          <a:xfrm>
            <a:off x="7988894" y="4966178"/>
            <a:ext cx="3781958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 dirty="0" err="1">
                <a:solidFill>
                  <a:srgbClr val="CADCFC"/>
                </a:solidFill>
                <a:latin typeface="Calibri"/>
              </a:rPr>
              <a:t>Precisión</a:t>
            </a:r>
            <a:r>
              <a:rPr sz="1000" b="0" i="1" dirty="0">
                <a:solidFill>
                  <a:srgbClr val="CADCFC"/>
                </a:solidFill>
                <a:latin typeface="Calibri"/>
              </a:rPr>
              <a:t> 0.85 · punto </a:t>
            </a:r>
            <a:r>
              <a:rPr sz="1000" b="0" i="1" dirty="0" err="1">
                <a:solidFill>
                  <a:srgbClr val="CADCFC"/>
                </a:solidFill>
                <a:latin typeface="Calibri"/>
              </a:rPr>
              <a:t>más</a:t>
            </a:r>
            <a:r>
              <a:rPr sz="1000" b="0" i="1" dirty="0">
                <a:solidFill>
                  <a:srgbClr val="CADCFC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CADCFC"/>
                </a:solidFill>
                <a:latin typeface="Calibri"/>
              </a:rPr>
              <a:t>alejado</a:t>
            </a:r>
            <a:r>
              <a:rPr sz="1000" b="0" i="1" dirty="0">
                <a:solidFill>
                  <a:srgbClr val="CADCFC"/>
                </a:solidFill>
                <a:latin typeface="Calibri"/>
              </a:rPr>
              <a:t> del </a:t>
            </a:r>
            <a:r>
              <a:rPr sz="1000" b="0" i="1" dirty="0" err="1">
                <a:solidFill>
                  <a:srgbClr val="CADCFC"/>
                </a:solidFill>
                <a:latin typeface="Calibri"/>
              </a:rPr>
              <a:t>origen</a:t>
            </a:r>
            <a:endParaRPr sz="1000" b="0" i="1" dirty="0">
              <a:solidFill>
                <a:srgbClr val="CADCFC"/>
              </a:solidFill>
              <a:latin typeface="Calibri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72CBF9A-9F5F-07BC-657C-534E565A247D}"/>
              </a:ext>
            </a:extLst>
          </p:cNvPr>
          <p:cNvSpPr txBox="1"/>
          <p:nvPr/>
        </p:nvSpPr>
        <p:spPr>
          <a:xfrm>
            <a:off x="502920" y="5643153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 dirty="0">
                <a:solidFill>
                  <a:srgbClr val="595959"/>
                </a:solidFill>
                <a:latin typeface="Calibri"/>
              </a:rPr>
              <a:t>El trade-off es inevitable: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muchas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bandas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 →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más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 recall,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menos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precisión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;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pocas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bandas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 →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más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precisión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,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menos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 recall. La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elección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depende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 del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objetivo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 del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producto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9B5826-36A7-BDAA-B958-7059D4D27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05" y="1844536"/>
            <a:ext cx="7415830" cy="2830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760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4CF4AE-3C27-48F4-BC05-7FFDB365D0CF}"/>
              </a:ext>
            </a:extLst>
          </p:cNvPr>
          <p:cNvSpPr/>
          <p:nvPr/>
        </p:nvSpPr>
        <p:spPr>
          <a:xfrm>
            <a:off x="457200" y="548640"/>
            <a:ext cx="91440" cy="548640"/>
          </a:xfrm>
          <a:prstGeom prst="rect">
            <a:avLst/>
          </a:prstGeom>
          <a:solidFill>
            <a:srgbClr val="F5B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CB4D5A-CCEA-8F05-881B-79054000478E}"/>
              </a:ext>
            </a:extLst>
          </p:cNvPr>
          <p:cNvSpPr txBox="1"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F3A68"/>
                </a:solidFill>
                <a:latin typeface="Calibri"/>
              </a:rPr>
              <a:t>Fase 3 · LSH manual vs Spark MLlib</a:t>
            </a:r>
          </a:p>
        </p:txBody>
      </p:sp>
      <p:pic>
        <p:nvPicPr>
          <p:cNvPr id="4" name="Picture 3" descr="13e_venn_manual_vs_mllib.png">
            <a:extLst>
              <a:ext uri="{FF2B5EF4-FFF2-40B4-BE49-F238E27FC236}">
                <a16:creationId xmlns:a16="http://schemas.microsoft.com/office/drawing/2014/main" id="{10825A76-8AC0-10AB-22BC-5EDCB1744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949440" cy="42062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1DDCBF-9A90-ED73-256E-C5B89D922212}"/>
              </a:ext>
            </a:extLst>
          </p:cNvPr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Solapamiento de pares encontrados · ground truth: J ≥ 0.20 sobre 200 películas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69A8BD-E360-19E2-9CDD-420B7C19F993}"/>
              </a:ext>
            </a:extLst>
          </p:cNvPr>
          <p:cNvSpPr txBox="1"/>
          <p:nvPr/>
        </p:nvSpPr>
        <p:spPr>
          <a:xfrm>
            <a:off x="7680960" y="137160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3A68"/>
                </a:solidFill>
                <a:latin typeface="Calibri"/>
              </a:rPr>
              <a:t>Métricas comparativas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624C3C-439A-CEA5-7BEC-E8C8D93D7510}"/>
              </a:ext>
            </a:extLst>
          </p:cNvPr>
          <p:cNvSpPr/>
          <p:nvPr/>
        </p:nvSpPr>
        <p:spPr>
          <a:xfrm>
            <a:off x="7680960" y="1874519"/>
            <a:ext cx="1554480" cy="384048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74E6B4-4904-CF24-DA09-D5B7AEFA35D0}"/>
              </a:ext>
            </a:extLst>
          </p:cNvPr>
          <p:cNvSpPr txBox="1"/>
          <p:nvPr/>
        </p:nvSpPr>
        <p:spPr>
          <a:xfrm>
            <a:off x="7680960" y="1874519"/>
            <a:ext cx="1554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Métrica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C2B2FB-BBDD-1648-3825-E3C2D38E7D9D}"/>
              </a:ext>
            </a:extLst>
          </p:cNvPr>
          <p:cNvSpPr/>
          <p:nvPr/>
        </p:nvSpPr>
        <p:spPr>
          <a:xfrm>
            <a:off x="9235440" y="1874519"/>
            <a:ext cx="1325880" cy="384048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C10D78-8F3B-B10C-4DEF-648F8E134418}"/>
              </a:ext>
            </a:extLst>
          </p:cNvPr>
          <p:cNvSpPr txBox="1"/>
          <p:nvPr/>
        </p:nvSpPr>
        <p:spPr>
          <a:xfrm>
            <a:off x="9235440" y="1874519"/>
            <a:ext cx="1325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Manual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041E47-12C3-8B39-80D9-E66AA853E627}"/>
              </a:ext>
            </a:extLst>
          </p:cNvPr>
          <p:cNvSpPr/>
          <p:nvPr/>
        </p:nvSpPr>
        <p:spPr>
          <a:xfrm>
            <a:off x="10561319" y="1874519"/>
            <a:ext cx="1325880" cy="384048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95BC2E-3108-C337-D201-43B885E24C8A}"/>
              </a:ext>
            </a:extLst>
          </p:cNvPr>
          <p:cNvSpPr txBox="1"/>
          <p:nvPr/>
        </p:nvSpPr>
        <p:spPr>
          <a:xfrm>
            <a:off x="10561319" y="1874519"/>
            <a:ext cx="1325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MLlib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77AE22-B2D0-1DA0-1842-45987D3B0C2D}"/>
              </a:ext>
            </a:extLst>
          </p:cNvPr>
          <p:cNvSpPr/>
          <p:nvPr/>
        </p:nvSpPr>
        <p:spPr>
          <a:xfrm>
            <a:off x="7680960" y="2258568"/>
            <a:ext cx="1554480" cy="384048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9BA569-2FF6-35E1-BD9D-4D67C7A6D5A8}"/>
              </a:ext>
            </a:extLst>
          </p:cNvPr>
          <p:cNvSpPr txBox="1"/>
          <p:nvPr/>
        </p:nvSpPr>
        <p:spPr>
          <a:xfrm>
            <a:off x="7680960" y="2258568"/>
            <a:ext cx="1554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Calibri"/>
              </a:rPr>
              <a:t>Candidatos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B612A2-30DD-56CF-0F13-9B6C8EF43358}"/>
              </a:ext>
            </a:extLst>
          </p:cNvPr>
          <p:cNvSpPr/>
          <p:nvPr/>
        </p:nvSpPr>
        <p:spPr>
          <a:xfrm>
            <a:off x="9235440" y="2258568"/>
            <a:ext cx="1325880" cy="384048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67BE05-881B-0D5F-0931-B137DB14D3F7}"/>
              </a:ext>
            </a:extLst>
          </p:cNvPr>
          <p:cNvSpPr txBox="1"/>
          <p:nvPr/>
        </p:nvSpPr>
        <p:spPr>
          <a:xfrm>
            <a:off x="9235440" y="2258568"/>
            <a:ext cx="1325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5A0A5A-7DAD-9581-C313-7A884790A9A6}"/>
              </a:ext>
            </a:extLst>
          </p:cNvPr>
          <p:cNvSpPr/>
          <p:nvPr/>
        </p:nvSpPr>
        <p:spPr>
          <a:xfrm>
            <a:off x="10561319" y="2258568"/>
            <a:ext cx="1325880" cy="384048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1D2A2A-AD5C-84A2-9B95-D718BC34C6C2}"/>
              </a:ext>
            </a:extLst>
          </p:cNvPr>
          <p:cNvSpPr txBox="1"/>
          <p:nvPr/>
        </p:nvSpPr>
        <p:spPr>
          <a:xfrm>
            <a:off x="10561319" y="2258568"/>
            <a:ext cx="1325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22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75116F6-A63A-A92F-57FF-46497DB67BCE}"/>
              </a:ext>
            </a:extLst>
          </p:cNvPr>
          <p:cNvSpPr/>
          <p:nvPr/>
        </p:nvSpPr>
        <p:spPr>
          <a:xfrm>
            <a:off x="7680960" y="2642615"/>
            <a:ext cx="15544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67D5C1-C816-7AA1-5A02-737620099D29}"/>
              </a:ext>
            </a:extLst>
          </p:cNvPr>
          <p:cNvSpPr txBox="1"/>
          <p:nvPr/>
        </p:nvSpPr>
        <p:spPr>
          <a:xfrm>
            <a:off x="7680960" y="2642615"/>
            <a:ext cx="1554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Calibri"/>
              </a:rPr>
              <a:t>Precisión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C05E5E-940C-7BBE-020A-C95D23B75D58}"/>
              </a:ext>
            </a:extLst>
          </p:cNvPr>
          <p:cNvSpPr/>
          <p:nvPr/>
        </p:nvSpPr>
        <p:spPr>
          <a:xfrm>
            <a:off x="9235440" y="2642615"/>
            <a:ext cx="13258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F2A0DA-4ECC-986E-A6D7-BF4A4D86593C}"/>
              </a:ext>
            </a:extLst>
          </p:cNvPr>
          <p:cNvSpPr txBox="1"/>
          <p:nvPr/>
        </p:nvSpPr>
        <p:spPr>
          <a:xfrm>
            <a:off x="9235440" y="2642615"/>
            <a:ext cx="1325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0.85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8A0F1DE-16FB-CCAE-9276-54DDAF13A48A}"/>
              </a:ext>
            </a:extLst>
          </p:cNvPr>
          <p:cNvSpPr/>
          <p:nvPr/>
        </p:nvSpPr>
        <p:spPr>
          <a:xfrm>
            <a:off x="10561319" y="2642615"/>
            <a:ext cx="13258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668CF9-B99D-5F79-9B6A-7A348577F2B0}"/>
              </a:ext>
            </a:extLst>
          </p:cNvPr>
          <p:cNvSpPr txBox="1"/>
          <p:nvPr/>
        </p:nvSpPr>
        <p:spPr>
          <a:xfrm>
            <a:off x="10561319" y="2642615"/>
            <a:ext cx="1325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1.00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7250073-8690-D135-FA4D-185D8E2F672A}"/>
              </a:ext>
            </a:extLst>
          </p:cNvPr>
          <p:cNvSpPr/>
          <p:nvPr/>
        </p:nvSpPr>
        <p:spPr>
          <a:xfrm>
            <a:off x="7680960" y="3026663"/>
            <a:ext cx="1554480" cy="384048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ECF923-81CA-E706-4E84-FC70CA430D5C}"/>
              </a:ext>
            </a:extLst>
          </p:cNvPr>
          <p:cNvSpPr txBox="1"/>
          <p:nvPr/>
        </p:nvSpPr>
        <p:spPr>
          <a:xfrm>
            <a:off x="7680960" y="3026663"/>
            <a:ext cx="1554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Calibri"/>
              </a:rPr>
              <a:t>Recall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4756D01-E0CF-0D3D-FA65-77529DCA0B40}"/>
              </a:ext>
            </a:extLst>
          </p:cNvPr>
          <p:cNvSpPr/>
          <p:nvPr/>
        </p:nvSpPr>
        <p:spPr>
          <a:xfrm>
            <a:off x="9235440" y="3026663"/>
            <a:ext cx="1325880" cy="384048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7F80E3-202E-A6AC-5FDD-2BE0E48ED439}"/>
              </a:ext>
            </a:extLst>
          </p:cNvPr>
          <p:cNvSpPr txBox="1"/>
          <p:nvPr/>
        </p:nvSpPr>
        <p:spPr>
          <a:xfrm>
            <a:off x="9235440" y="3026663"/>
            <a:ext cx="1325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0.04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7EF7B34-02A1-517B-730A-A34E2FBE065F}"/>
              </a:ext>
            </a:extLst>
          </p:cNvPr>
          <p:cNvSpPr/>
          <p:nvPr/>
        </p:nvSpPr>
        <p:spPr>
          <a:xfrm>
            <a:off x="10561319" y="3026663"/>
            <a:ext cx="1325880" cy="384048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C2A98E5-A2C5-E643-6D65-F11155BB7932}"/>
              </a:ext>
            </a:extLst>
          </p:cNvPr>
          <p:cNvSpPr txBox="1"/>
          <p:nvPr/>
        </p:nvSpPr>
        <p:spPr>
          <a:xfrm>
            <a:off x="10561319" y="3026663"/>
            <a:ext cx="1325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1.00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F40C5E7-AC0D-46C9-25EA-FA320FB05EED}"/>
              </a:ext>
            </a:extLst>
          </p:cNvPr>
          <p:cNvSpPr/>
          <p:nvPr/>
        </p:nvSpPr>
        <p:spPr>
          <a:xfrm>
            <a:off x="7680960" y="3410711"/>
            <a:ext cx="4206240" cy="384048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1F2F0A-6E95-F188-393F-E3622D9AE16D}"/>
              </a:ext>
            </a:extLst>
          </p:cNvPr>
          <p:cNvSpPr txBox="1"/>
          <p:nvPr/>
        </p:nvSpPr>
        <p:spPr>
          <a:xfrm>
            <a:off x="7754112" y="3410711"/>
            <a:ext cx="4059935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3A68"/>
                </a:solidFill>
                <a:latin typeface="Calibri"/>
              </a:rPr>
              <a:t>Overlap entre métodos:  4 pares (11% de la unión)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89AEE2-94BD-509C-B119-51316908C67A}"/>
              </a:ext>
            </a:extLst>
          </p:cNvPr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Proyecto 1 · Data Mining UTEC · MovieLens 20M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A0B4BBA-FC9E-FB95-D578-82BB5AFEE3DB}"/>
              </a:ext>
            </a:extLst>
          </p:cNvPr>
          <p:cNvSpPr txBox="1"/>
          <p:nvPr/>
        </p:nvSpPr>
        <p:spPr>
          <a:xfrm>
            <a:off x="548640" y="598932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 dirty="0">
                <a:solidFill>
                  <a:srgbClr val="555555"/>
                </a:solidFill>
                <a:latin typeface="Calibri"/>
              </a:rPr>
              <a:t>El overlap del 11% no es un </a:t>
            </a:r>
            <a:r>
              <a:rPr sz="1100" b="0" i="1" dirty="0" err="1">
                <a:solidFill>
                  <a:srgbClr val="555555"/>
                </a:solidFill>
                <a:latin typeface="Calibri"/>
              </a:rPr>
              <a:t>fallo</a:t>
            </a:r>
            <a:r>
              <a:rPr sz="1100" b="0" i="1" dirty="0">
                <a:solidFill>
                  <a:srgbClr val="555555"/>
                </a:solidFill>
                <a:latin typeface="Calibri"/>
              </a:rPr>
              <a:t>: </a:t>
            </a:r>
            <a:r>
              <a:rPr sz="1100" b="0" i="1" dirty="0" err="1">
                <a:solidFill>
                  <a:srgbClr val="555555"/>
                </a:solidFill>
                <a:latin typeface="Calibri"/>
              </a:rPr>
              <a:t>refleja</a:t>
            </a:r>
            <a:r>
              <a:rPr sz="11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555555"/>
                </a:solidFill>
                <a:latin typeface="Calibri"/>
              </a:rPr>
              <a:t>umbrales</a:t>
            </a:r>
            <a:r>
              <a:rPr sz="11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555555"/>
                </a:solidFill>
                <a:latin typeface="Calibri"/>
              </a:rPr>
              <a:t>efectivos</a:t>
            </a:r>
            <a:r>
              <a:rPr sz="11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555555"/>
                </a:solidFill>
                <a:latin typeface="Calibri"/>
              </a:rPr>
              <a:t>distintos</a:t>
            </a:r>
            <a:r>
              <a:rPr sz="1100" b="0" i="1" dirty="0">
                <a:solidFill>
                  <a:srgbClr val="555555"/>
                </a:solidFill>
                <a:latin typeface="Calibri"/>
              </a:rPr>
              <a:t>. Manual </a:t>
            </a:r>
            <a:r>
              <a:rPr sz="1100" b="0" i="1" dirty="0" err="1">
                <a:solidFill>
                  <a:srgbClr val="555555"/>
                </a:solidFill>
                <a:latin typeface="Calibri"/>
              </a:rPr>
              <a:t>usamos</a:t>
            </a:r>
            <a:r>
              <a:rPr sz="1100" b="0" i="1" dirty="0">
                <a:solidFill>
                  <a:srgbClr val="555555"/>
                </a:solidFill>
                <a:latin typeface="Calibri"/>
              </a:rPr>
              <a:t> para </a:t>
            </a:r>
            <a:r>
              <a:rPr sz="1100" b="0" i="1" dirty="0" err="1">
                <a:solidFill>
                  <a:srgbClr val="555555"/>
                </a:solidFill>
                <a:latin typeface="Calibri"/>
              </a:rPr>
              <a:t>entender</a:t>
            </a:r>
            <a:r>
              <a:rPr sz="11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555555"/>
                </a:solidFill>
                <a:latin typeface="Calibri"/>
              </a:rPr>
              <a:t>el</a:t>
            </a:r>
            <a:r>
              <a:rPr sz="11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555555"/>
                </a:solidFill>
                <a:latin typeface="Calibri"/>
              </a:rPr>
              <a:t>algoritmo</a:t>
            </a:r>
            <a:r>
              <a:rPr sz="1100" b="0" i="1" dirty="0">
                <a:solidFill>
                  <a:srgbClr val="555555"/>
                </a:solidFill>
                <a:latin typeface="Calibri"/>
              </a:rPr>
              <a:t> paso a paso · </a:t>
            </a:r>
            <a:r>
              <a:rPr sz="1100" b="0" i="1" dirty="0" err="1">
                <a:solidFill>
                  <a:srgbClr val="555555"/>
                </a:solidFill>
                <a:latin typeface="Calibri"/>
              </a:rPr>
              <a:t>MLlib</a:t>
            </a:r>
            <a:r>
              <a:rPr sz="1100" b="0" i="1" dirty="0">
                <a:solidFill>
                  <a:srgbClr val="555555"/>
                </a:solidFill>
                <a:latin typeface="Calibri"/>
              </a:rPr>
              <a:t> para </a:t>
            </a:r>
            <a:r>
              <a:rPr sz="1100" b="0" i="1" dirty="0" err="1">
                <a:solidFill>
                  <a:srgbClr val="555555"/>
                </a:solidFill>
                <a:latin typeface="Calibri"/>
              </a:rPr>
              <a:t>escalar</a:t>
            </a:r>
            <a:r>
              <a:rPr sz="11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555555"/>
                </a:solidFill>
                <a:latin typeface="Calibri"/>
              </a:rPr>
              <a:t>en</a:t>
            </a:r>
            <a:r>
              <a:rPr sz="11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555555"/>
                </a:solidFill>
                <a:latin typeface="Calibri"/>
              </a:rPr>
              <a:t>producción</a:t>
            </a:r>
            <a:r>
              <a:rPr sz="1100" b="0" i="1" dirty="0">
                <a:solidFill>
                  <a:srgbClr val="555555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76249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CDD10-0ACF-463E-13CE-257036054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D75FA42-D1AA-910E-F539-7A7A783DDAC2}"/>
              </a:ext>
            </a:extLst>
          </p:cNvPr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FE8CAC-52A9-F6DF-E903-443545D0252A}"/>
              </a:ext>
            </a:extLst>
          </p:cNvPr>
          <p:cNvSpPr txBox="1"/>
          <p:nvPr/>
        </p:nvSpPr>
        <p:spPr>
          <a:xfrm>
            <a:off x="640080" y="411480"/>
            <a:ext cx="10515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1F3864"/>
                </a:solidFill>
                <a:latin typeface="Calibri"/>
              </a:rPr>
              <a:t>Fase 3 · </a:t>
            </a:r>
            <a:r>
              <a:rPr lang="en-US" sz="2800" b="1" i="0" dirty="0">
                <a:solidFill>
                  <a:srgbClr val="1F3864"/>
                </a:solidFill>
                <a:latin typeface="Calibri"/>
              </a:rPr>
              <a:t>Consulta</a:t>
            </a:r>
            <a:endParaRPr sz="2800" b="1" i="0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8F8F9C-13ED-2FC3-5884-66663F69D8FE}"/>
              </a:ext>
            </a:extLst>
          </p:cNvPr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 dirty="0">
                <a:solidFill>
                  <a:srgbClr val="595959"/>
                </a:solidFill>
                <a:latin typeface="Calibri"/>
              </a:rPr>
              <a:t>Proyecto 1 · Data Mining UTEC · </a:t>
            </a:r>
            <a:r>
              <a:rPr sz="900" b="0" i="1" dirty="0" err="1">
                <a:solidFill>
                  <a:srgbClr val="595959"/>
                </a:solidFill>
                <a:latin typeface="Calibri"/>
              </a:rPr>
              <a:t>MovieLens</a:t>
            </a:r>
            <a:r>
              <a:rPr sz="900" b="0" i="1" dirty="0">
                <a:solidFill>
                  <a:srgbClr val="595959"/>
                </a:solidFill>
                <a:latin typeface="Calibri"/>
              </a:rPr>
              <a:t> 20M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2796384F-DF95-FA87-96B4-7E35B2CD0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432" y="937687"/>
            <a:ext cx="9229344" cy="5395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357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F3864"/>
                </a:solidFill>
                <a:latin typeface="Calibri"/>
              </a:rPr>
              <a:t>Fase 4 · </a:t>
            </a:r>
            <a:r>
              <a:rPr sz="2800" b="1" dirty="0" err="1">
                <a:solidFill>
                  <a:srgbClr val="1F3864"/>
                </a:solidFill>
                <a:latin typeface="Calibri"/>
              </a:rPr>
              <a:t>Apriori</a:t>
            </a:r>
            <a:r>
              <a:rPr sz="28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1F3864"/>
                </a:solidFill>
                <a:latin typeface="Calibri"/>
              </a:rPr>
              <a:t>en</a:t>
            </a:r>
            <a:r>
              <a:rPr sz="2800" b="1" dirty="0">
                <a:solidFill>
                  <a:srgbClr val="1F3864"/>
                </a:solidFill>
                <a:latin typeface="Calibri"/>
              </a:rPr>
              <a:t> local </a:t>
            </a:r>
            <a:r>
              <a:rPr sz="2800" b="1" dirty="0" err="1">
                <a:solidFill>
                  <a:srgbClr val="1F3864"/>
                </a:solidFill>
                <a:latin typeface="Calibri"/>
              </a:rPr>
              <a:t>sobre</a:t>
            </a:r>
            <a:r>
              <a:rPr sz="28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1F3864"/>
                </a:solidFill>
                <a:latin typeface="Calibri"/>
              </a:rPr>
              <a:t>muestra</a:t>
            </a:r>
            <a:r>
              <a:rPr sz="28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1F3864"/>
                </a:solidFill>
                <a:latin typeface="Calibri"/>
              </a:rPr>
              <a:t>justificada</a:t>
            </a:r>
            <a:endParaRPr sz="2800" b="1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3703320" cy="1280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731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19" y="1554480"/>
            <a:ext cx="3429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dirty="0">
                <a:solidFill>
                  <a:srgbClr val="1F3864"/>
                </a:solidFill>
                <a:latin typeface="Calibri"/>
              </a:rPr>
              <a:t>50 % </a:t>
            </a:r>
            <a:r>
              <a:rPr sz="3000" b="1" dirty="0" err="1">
                <a:solidFill>
                  <a:srgbClr val="1F3864"/>
                </a:solidFill>
                <a:latin typeface="Calibri"/>
              </a:rPr>
              <a:t>muestra</a:t>
            </a:r>
            <a:endParaRPr sz="3000" b="1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3429000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595959"/>
                </a:solidFill>
                <a:latin typeface="Calibri"/>
              </a:rPr>
              <a:t>≈68K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transacciones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· seed=42 ·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Hoeffding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garantiza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pérdida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≤10⁻⁶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417320"/>
            <a:ext cx="3657600" cy="1280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51960" y="1417320"/>
            <a:ext cx="731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1554480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dirty="0">
                <a:solidFill>
                  <a:srgbClr val="1F3864"/>
                </a:solidFill>
                <a:latin typeface="Calibri"/>
              </a:rPr>
              <a:t>3,418 </a:t>
            </a:r>
            <a:r>
              <a:rPr sz="3000" b="1" dirty="0" err="1">
                <a:solidFill>
                  <a:srgbClr val="1F3864"/>
                </a:solidFill>
                <a:latin typeface="Calibri"/>
              </a:rPr>
              <a:t>reglas</a:t>
            </a:r>
            <a:endParaRPr sz="3000" b="1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34840" y="2194560"/>
            <a:ext cx="3383280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595959"/>
                </a:solidFill>
                <a:latin typeface="Calibri"/>
              </a:rPr>
              <a:t>conf ≥ 0.5 · lift &gt; 1 · MIN_SUPPORT = 0.05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1417320"/>
            <a:ext cx="3749039" cy="1280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55279" y="1417320"/>
            <a:ext cx="731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59" y="1554480"/>
            <a:ext cx="3474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dirty="0">
                <a:solidFill>
                  <a:srgbClr val="1F3864"/>
                </a:solidFill>
                <a:latin typeface="Calibri"/>
              </a:rPr>
              <a:t>30.8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9" y="2194560"/>
            <a:ext cx="3474720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Apriori puro en Python · 16 GB RAM · sin Spark</a:t>
            </a:r>
          </a:p>
        </p:txBody>
      </p:sp>
      <p:pic>
        <p:nvPicPr>
          <p:cNvPr id="19" name="Picture 18" descr="16_saturacion_muestr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426" y="2926079"/>
            <a:ext cx="5870448" cy="329461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2920" y="617220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Calibri"/>
              </a:rPr>
              <a:t>Curva de saturación · validación empírica del muestreo (Hoeffding)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29260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Calibri"/>
              </a:rPr>
              <a:t>Por qué 50 % es óptimo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338328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Calibri"/>
              </a:rPr>
              <a:t>Validación dual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3657600"/>
            <a:ext cx="41148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>
                <a:solidFill>
                  <a:srgbClr val="595959"/>
                </a:solidFill>
                <a:latin typeface="Calibri"/>
              </a:rPr>
              <a:t>• 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Teórica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(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Hoeffding</a:t>
            </a:r>
            <a:r>
              <a:rPr sz="1100" dirty="0">
                <a:solidFill>
                  <a:srgbClr val="595959"/>
                </a:solidFill>
                <a:latin typeface="Calibri"/>
              </a:rPr>
              <a:t>): para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μ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≥ 0.06 la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probabilidad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de no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detectar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la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regla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es ≤ 1.1×10⁻⁶.</a:t>
            </a:r>
          </a:p>
          <a:p>
            <a:pPr algn="l"/>
            <a:r>
              <a:rPr sz="1100" dirty="0">
                <a:solidFill>
                  <a:srgbClr val="595959"/>
                </a:solidFill>
                <a:latin typeface="Calibri"/>
              </a:rPr>
              <a:t>• 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Empírica</a:t>
            </a:r>
            <a:r>
              <a:rPr sz="1100" dirty="0">
                <a:solidFill>
                  <a:srgbClr val="595959"/>
                </a:solidFill>
                <a:latin typeface="Calibri"/>
              </a:rPr>
              <a:t>: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Apriori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sobre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100 % de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los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usuarios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da 3,415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reglas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vs 3,418 con 50 % —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diferencia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de 3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reglas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(0.09 %).</a:t>
            </a:r>
          </a:p>
          <a:p>
            <a:pPr algn="l"/>
            <a:r>
              <a:rPr sz="1100" dirty="0">
                <a:solidFill>
                  <a:srgbClr val="595959"/>
                </a:solidFill>
                <a:latin typeface="Calibri"/>
              </a:rPr>
              <a:t>• 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Limitamos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a k = 2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por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costo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O(n · |basket|^k): k=3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sería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~7 min, k=5 inviable.</a:t>
            </a:r>
          </a:p>
          <a:p>
            <a:pPr algn="l"/>
            <a:r>
              <a:rPr sz="1100" dirty="0">
                <a:solidFill>
                  <a:srgbClr val="595959"/>
                </a:solidFill>
                <a:latin typeface="Calibri"/>
              </a:rPr>
              <a:t>•  Las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reglas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binarias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A → B son las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más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interpretables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en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un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recomendador</a:t>
            </a:r>
            <a:r>
              <a:rPr sz="1100" dirty="0">
                <a:solidFill>
                  <a:srgbClr val="595959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DD4A09-4789-CD42-E4EC-B09623BE8055}"/>
              </a:ext>
            </a:extLst>
          </p:cNvPr>
          <p:cNvSpPr/>
          <p:nvPr/>
        </p:nvSpPr>
        <p:spPr>
          <a:xfrm>
            <a:off x="457200" y="370510"/>
            <a:ext cx="91440" cy="5486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12AA1D-2B86-F3BB-6A44-2412CDC734A5}"/>
              </a:ext>
            </a:extLst>
          </p:cNvPr>
          <p:cNvSpPr txBox="1"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Fase 4 · Apriori — Top reglas por lift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9DAF54-2E1A-A013-F509-CCEBF2E86B08}"/>
              </a:ext>
            </a:extLst>
          </p:cNvPr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34B8DB-AEAD-6877-C192-021841358427}"/>
              </a:ext>
            </a:extLst>
          </p:cNvPr>
          <p:cNvSpPr txBox="1"/>
          <p:nvPr/>
        </p:nvSpPr>
        <p:spPr>
          <a:xfrm>
            <a:off x="9765936" y="1294366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 err="1">
                <a:solidFill>
                  <a:srgbClr val="1F3864"/>
                </a:solidFill>
                <a:latin typeface="Calibri"/>
              </a:rPr>
              <a:t>Resultados</a:t>
            </a:r>
            <a:r>
              <a:rPr sz="14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F3864"/>
                </a:solidFill>
                <a:latin typeface="Calibri"/>
              </a:rPr>
              <a:t>Apriori</a:t>
            </a:r>
            <a:endParaRPr sz="1400" b="1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BDBFE2-FC38-2A64-F08B-45901FB450CC}"/>
              </a:ext>
            </a:extLst>
          </p:cNvPr>
          <p:cNvSpPr txBox="1"/>
          <p:nvPr/>
        </p:nvSpPr>
        <p:spPr>
          <a:xfrm>
            <a:off x="9765935" y="1726048"/>
            <a:ext cx="32004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dirty="0" err="1">
                <a:solidFill>
                  <a:srgbClr val="1F3864"/>
                </a:solidFill>
                <a:latin typeface="Calibri"/>
              </a:rPr>
              <a:t>Configuración</a:t>
            </a:r>
            <a:endParaRPr sz="1100" b="1" dirty="0">
              <a:solidFill>
                <a:srgbClr val="1F3864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r>
              <a:rPr sz="1000" b="0" dirty="0">
                <a:solidFill>
                  <a:srgbClr val="595959"/>
                </a:solidFill>
                <a:latin typeface="Calibri"/>
              </a:rPr>
              <a:t>•  68,464 </a:t>
            </a:r>
            <a:r>
              <a:rPr sz="1000" b="0" dirty="0" err="1">
                <a:solidFill>
                  <a:srgbClr val="595959"/>
                </a:solidFill>
                <a:latin typeface="Calibri"/>
              </a:rPr>
              <a:t>transacciones</a:t>
            </a:r>
            <a:r>
              <a:rPr sz="1000" b="0" dirty="0">
                <a:solidFill>
                  <a:srgbClr val="595959"/>
                </a:solidFill>
                <a:latin typeface="Calibri"/>
              </a:rPr>
              <a:t> (50 %)</a:t>
            </a:r>
          </a:p>
          <a:p>
            <a:pPr algn="l">
              <a:spcBef>
                <a:spcPts val="100"/>
              </a:spcBef>
            </a:pPr>
            <a:r>
              <a:rPr sz="1000" b="0" dirty="0">
                <a:solidFill>
                  <a:srgbClr val="595959"/>
                </a:solidFill>
                <a:latin typeface="Calibri"/>
              </a:rPr>
              <a:t>•  590 </a:t>
            </a:r>
            <a:r>
              <a:rPr sz="1000" b="0" dirty="0" err="1">
                <a:solidFill>
                  <a:srgbClr val="595959"/>
                </a:solidFill>
                <a:latin typeface="Calibri"/>
              </a:rPr>
              <a:t>películas</a:t>
            </a:r>
            <a:r>
              <a:rPr sz="1000" b="0" dirty="0">
                <a:solidFill>
                  <a:srgbClr val="595959"/>
                </a:solidFill>
                <a:latin typeface="Calibri"/>
              </a:rPr>
              <a:t> (≥5,000 likes)</a:t>
            </a:r>
          </a:p>
          <a:p>
            <a:pPr algn="l">
              <a:spcBef>
                <a:spcPts val="100"/>
              </a:spcBef>
            </a:pPr>
            <a:r>
              <a:rPr sz="1000" b="0" dirty="0">
                <a:solidFill>
                  <a:srgbClr val="595959"/>
                </a:solidFill>
                <a:latin typeface="Calibri"/>
              </a:rPr>
              <a:t>•  sup ≥ 0.05  ·  conf ≥ 0.5</a:t>
            </a:r>
          </a:p>
          <a:p>
            <a:pPr algn="l">
              <a:spcBef>
                <a:spcPts val="100"/>
              </a:spcBef>
            </a:pPr>
            <a:r>
              <a:rPr sz="1000" b="0" dirty="0">
                <a:solidFill>
                  <a:srgbClr val="595959"/>
                </a:solidFill>
                <a:latin typeface="Calibri"/>
              </a:rPr>
              <a:t>•  ~30 s sin Spark, sin OOM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8ED7AF-9E5A-D6F5-D2FB-35DD08714C86}"/>
              </a:ext>
            </a:extLst>
          </p:cNvPr>
          <p:cNvSpPr txBox="1"/>
          <p:nvPr/>
        </p:nvSpPr>
        <p:spPr>
          <a:xfrm>
            <a:off x="8844692" y="3163570"/>
            <a:ext cx="32004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200" b="1" dirty="0">
                <a:solidFill>
                  <a:srgbClr val="1F3864"/>
                </a:solidFill>
                <a:latin typeface="Calibri"/>
              </a:rPr>
              <a:t>3,418</a:t>
            </a:r>
          </a:p>
          <a:p>
            <a:pPr algn="ctr"/>
            <a:r>
              <a:rPr sz="1000" b="0" dirty="0" err="1">
                <a:solidFill>
                  <a:srgbClr val="595959"/>
                </a:solidFill>
                <a:latin typeface="Calibri"/>
              </a:rPr>
              <a:t>reglas</a:t>
            </a:r>
            <a:r>
              <a:rPr sz="10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Calibri"/>
              </a:rPr>
              <a:t>binarias</a:t>
            </a:r>
            <a:r>
              <a:rPr sz="1000" b="0" dirty="0">
                <a:solidFill>
                  <a:srgbClr val="595959"/>
                </a:solidFill>
                <a:latin typeface="Calibri"/>
              </a:rPr>
              <a:t> robustas</a:t>
            </a:r>
          </a:p>
          <a:p>
            <a:pPr algn="ctr"/>
            <a:r>
              <a:rPr sz="900" b="0" dirty="0">
                <a:solidFill>
                  <a:srgbClr val="595959"/>
                </a:solidFill>
                <a:latin typeface="Calibri"/>
              </a:rPr>
              <a:t>con lift &gt; 1 y confianza ≥ 0.5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585D24-13D2-4FE2-F496-217384D678CD}"/>
              </a:ext>
            </a:extLst>
          </p:cNvPr>
          <p:cNvSpPr txBox="1"/>
          <p:nvPr/>
        </p:nvSpPr>
        <p:spPr>
          <a:xfrm>
            <a:off x="457200" y="5303520"/>
            <a:ext cx="11338560" cy="6052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 err="1">
                <a:solidFill>
                  <a:srgbClr val="1F3864"/>
                </a:solidFill>
                <a:latin typeface="Calibri"/>
              </a:rPr>
              <a:t>Hallazgo</a:t>
            </a:r>
            <a:r>
              <a:rPr sz="1400" b="1" dirty="0">
                <a:solidFill>
                  <a:srgbClr val="1F3864"/>
                </a:solidFill>
                <a:latin typeface="Calibri"/>
              </a:rPr>
              <a:t> clave</a:t>
            </a:r>
          </a:p>
          <a:p>
            <a:pPr>
              <a:spcBef>
                <a:spcPts val="400"/>
              </a:spcBef>
            </a:pPr>
            <a:r>
              <a:rPr sz="1100" b="0" dirty="0">
                <a:solidFill>
                  <a:srgbClr val="595959"/>
                </a:solidFill>
                <a:latin typeface="Calibri"/>
              </a:rPr>
              <a:t>El lift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funciona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como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detector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automático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de sagas y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franquicias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: Harry Potter</a:t>
            </a:r>
            <a:r>
              <a:rPr lang="en-PE" sz="1100" b="0" dirty="0">
                <a:solidFill>
                  <a:srgbClr val="595959"/>
                </a:solidFill>
                <a:latin typeface="Calibri"/>
              </a:rPr>
              <a:t> (9.15)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, </a:t>
            </a:r>
            <a:r>
              <a:rPr lang="en-US" sz="1100" dirty="0">
                <a:solidFill>
                  <a:srgbClr val="595959"/>
                </a:solidFill>
              </a:rPr>
              <a:t>Wallace &amp; Gromit </a:t>
            </a:r>
            <a:r>
              <a:rPr lang="en-PE" sz="1100" dirty="0">
                <a:solidFill>
                  <a:srgbClr val="595959"/>
                </a:solidFill>
              </a:rPr>
              <a:t>(8.19)</a:t>
            </a:r>
            <a:r>
              <a:rPr lang="en-PE"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y Bourne</a:t>
            </a:r>
            <a:r>
              <a:rPr lang="en-US" sz="1100" dirty="0">
                <a:solidFill>
                  <a:srgbClr val="595959"/>
                </a:solidFill>
              </a:rPr>
              <a:t> (7.02)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dominan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los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primeros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lugares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. Las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reglas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entre blockbusters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genéricos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tienen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alta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confianza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pero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lift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modesto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—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ilustran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el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trade-off confianza vs lift.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6948AA-F00E-24BB-0A65-1E6C4F2C5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08" y="1188720"/>
            <a:ext cx="9282100" cy="394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193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438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F3864"/>
                </a:solidFill>
                <a:latin typeface="Calibri"/>
              </a:rPr>
              <a:t>Fase 4 · FP-Growth </a:t>
            </a:r>
            <a:r>
              <a:rPr sz="2800" b="1" dirty="0" err="1">
                <a:solidFill>
                  <a:srgbClr val="1F3864"/>
                </a:solidFill>
                <a:latin typeface="Calibri"/>
              </a:rPr>
              <a:t>descubre</a:t>
            </a:r>
            <a:r>
              <a:rPr sz="28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1F3864"/>
                </a:solidFill>
                <a:latin typeface="Calibri"/>
              </a:rPr>
              <a:t>patrones</a:t>
            </a:r>
            <a:r>
              <a:rPr sz="28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1F3864"/>
                </a:solidFill>
                <a:latin typeface="Calibri"/>
              </a:rPr>
              <a:t>que</a:t>
            </a:r>
            <a:r>
              <a:rPr sz="28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1F3864"/>
                </a:solidFill>
                <a:latin typeface="Calibri"/>
              </a:rPr>
              <a:t>Apriori</a:t>
            </a:r>
            <a:r>
              <a:rPr sz="2800" b="1" dirty="0">
                <a:solidFill>
                  <a:srgbClr val="1F3864"/>
                </a:solidFill>
                <a:latin typeface="Calibri"/>
              </a:rPr>
              <a:t> 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pic>
        <p:nvPicPr>
          <p:cNvPr id="7" name="Picture 6" descr="15_distribucion_k_items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417320"/>
            <a:ext cx="7104888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57784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Calibri"/>
              </a:rPr>
              <a:t>Itemsets por tamaño k · Apriori (k≤2) vs FP-Growth (k≤5)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41732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1F3864"/>
                </a:solidFill>
                <a:latin typeface="Calibri"/>
              </a:rPr>
              <a:t>Apples-to-apples (</a:t>
            </a:r>
            <a:r>
              <a:rPr sz="1500" b="1" dirty="0" err="1">
                <a:solidFill>
                  <a:srgbClr val="1F3864"/>
                </a:solidFill>
                <a:latin typeface="Calibri"/>
              </a:rPr>
              <a:t>mismos</a:t>
            </a:r>
            <a:r>
              <a:rPr sz="15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F3864"/>
                </a:solidFill>
                <a:latin typeface="Calibri"/>
              </a:rPr>
              <a:t>parámetros</a:t>
            </a:r>
            <a:r>
              <a:rPr sz="1500" b="1" dirty="0">
                <a:solidFill>
                  <a:srgbClr val="1F3864"/>
                </a:solidFill>
                <a:latin typeface="Calibri"/>
              </a:rPr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1920240"/>
            <a:ext cx="4114800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80960" y="1920240"/>
            <a:ext cx="73152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0" y="2057400"/>
            <a:ext cx="3840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dirty="0">
                <a:solidFill>
                  <a:srgbClr val="1F3864"/>
                </a:solidFill>
                <a:latin typeface="Calibri"/>
              </a:rPr>
              <a:t>0.5 s 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517432"/>
            <a:ext cx="3840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595959"/>
                </a:solidFill>
                <a:latin typeface="Calibri"/>
              </a:rPr>
              <a:t>FP-Growth · 3.7×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más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rápido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que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Apriori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(1.84 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2926080"/>
            <a:ext cx="4114800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80960" y="2926080"/>
            <a:ext cx="73152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3063240"/>
            <a:ext cx="3840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dirty="0">
                <a:solidFill>
                  <a:srgbClr val="1F3864"/>
                </a:solidFill>
                <a:latin typeface="Calibri"/>
              </a:rPr>
              <a:t>695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497581"/>
            <a:ext cx="3840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 err="1">
                <a:solidFill>
                  <a:srgbClr val="595959"/>
                </a:solidFill>
                <a:latin typeface="Calibri"/>
              </a:rPr>
              <a:t>itemsets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de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tamaño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k ≥ 3 (hasta k=5)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que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Apriori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no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encuentra</a:t>
            </a:r>
            <a:endParaRPr sz="1100" b="0" dirty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680960" y="3931920"/>
            <a:ext cx="4114800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80960" y="3931920"/>
            <a:ext cx="73152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63840" y="4012436"/>
            <a:ext cx="3840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dirty="0">
                <a:solidFill>
                  <a:srgbClr val="1F3864"/>
                </a:solidFill>
                <a:latin typeface="Calibri"/>
              </a:rPr>
              <a:t>2,674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434840"/>
            <a:ext cx="3840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 err="1">
                <a:solidFill>
                  <a:srgbClr val="595959"/>
                </a:solidFill>
                <a:latin typeface="Calibri"/>
              </a:rPr>
              <a:t>reglas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con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antecedente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compuesto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· {LOTR1, LOTR2} → LOTR3 con conf ≈ 0.90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502920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Calibri"/>
              </a:rPr>
              <a:t>Conclusión rigurosa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530352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>
                <a:solidFill>
                  <a:srgbClr val="595959"/>
                </a:solidFill>
                <a:latin typeface="Calibri"/>
              </a:rPr>
              <a:t>• 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Diferencias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100 %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atribuibles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al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algoritmo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(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parámetros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idénticos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).</a:t>
            </a:r>
          </a:p>
          <a:p>
            <a:pPr algn="l"/>
            <a:r>
              <a:rPr sz="1100" dirty="0">
                <a:solidFill>
                  <a:srgbClr val="595959"/>
                </a:solidFill>
                <a:latin typeface="Calibri"/>
              </a:rPr>
              <a:t>• 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Apriori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y FP-Growth son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complementarios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— no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compiten</a:t>
            </a:r>
            <a:r>
              <a:rPr sz="1100" dirty="0">
                <a:solidFill>
                  <a:srgbClr val="595959"/>
                </a:solidFill>
                <a:latin typeface="Calibri"/>
              </a:rPr>
              <a:t>,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exploran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espacios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distintos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del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problema</a:t>
            </a:r>
            <a:r>
              <a:rPr sz="1100" dirty="0">
                <a:solidFill>
                  <a:srgbClr val="595959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B555E-65E8-1346-77FE-68D72AF7C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D75D17B-97B5-73F1-8870-E8D28C7DCBDB}"/>
              </a:ext>
            </a:extLst>
          </p:cNvPr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C7C3EF-A497-A306-6F29-CE41E21EC77B}"/>
              </a:ext>
            </a:extLst>
          </p:cNvPr>
          <p:cNvSpPr txBox="1"/>
          <p:nvPr/>
        </p:nvSpPr>
        <p:spPr>
          <a:xfrm>
            <a:off x="640080" y="411480"/>
            <a:ext cx="105156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F3864"/>
                </a:solidFill>
                <a:latin typeface="Calibri"/>
              </a:rPr>
              <a:t>Fase 4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64D955-618A-A4AC-06B5-9271093E4E74}"/>
              </a:ext>
            </a:extLst>
          </p:cNvPr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C41C6BF-53F0-71F3-935A-5477D55AA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734" y="406934"/>
            <a:ext cx="7423658" cy="603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3109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F3864"/>
                </a:solidFill>
                <a:latin typeface="Calibri"/>
              </a:rPr>
              <a:t>Fase 4 · El insight: </a:t>
            </a:r>
            <a:r>
              <a:rPr sz="2800" b="1" dirty="0" err="1">
                <a:solidFill>
                  <a:srgbClr val="1F3864"/>
                </a:solidFill>
                <a:latin typeface="Calibri"/>
              </a:rPr>
              <a:t>reglas</a:t>
            </a:r>
            <a:r>
              <a:rPr sz="2800" b="1" dirty="0">
                <a:solidFill>
                  <a:srgbClr val="1F3864"/>
                </a:solidFill>
                <a:latin typeface="Calibri"/>
              </a:rPr>
              <a:t> cross-</a:t>
            </a:r>
            <a:r>
              <a:rPr sz="2800" b="1" dirty="0" err="1">
                <a:solidFill>
                  <a:srgbClr val="1F3864"/>
                </a:solidFill>
                <a:latin typeface="Calibri"/>
              </a:rPr>
              <a:t>género</a:t>
            </a:r>
            <a:r>
              <a:rPr sz="28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1F3864"/>
                </a:solidFill>
                <a:latin typeface="Calibri"/>
              </a:rPr>
              <a:t>que</a:t>
            </a:r>
            <a:r>
              <a:rPr sz="2800" b="1" dirty="0">
                <a:solidFill>
                  <a:srgbClr val="1F3864"/>
                </a:solidFill>
                <a:latin typeface="Calibri"/>
              </a:rPr>
              <a:t> la metadata no </a:t>
            </a:r>
            <a:r>
              <a:rPr sz="2800" b="1" dirty="0" err="1">
                <a:solidFill>
                  <a:srgbClr val="1F3864"/>
                </a:solidFill>
                <a:latin typeface="Calibri"/>
              </a:rPr>
              <a:t>predice</a:t>
            </a:r>
            <a:endParaRPr sz="2800" b="1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pic>
        <p:nvPicPr>
          <p:cNvPr id="7" name="Picture 6" descr="17_cross_vs_intra_gen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6715176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57784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Calibri"/>
              </a:rPr>
              <a:t>Reglas por bucket de lift · desglose intra-género vs cross-género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41732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 err="1">
                <a:solidFill>
                  <a:srgbClr val="1F3864"/>
                </a:solidFill>
                <a:latin typeface="Calibri"/>
              </a:rPr>
              <a:t>Hallazgo</a:t>
            </a:r>
            <a:r>
              <a:rPr sz="15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F3864"/>
                </a:solidFill>
                <a:latin typeface="Calibri"/>
              </a:rPr>
              <a:t>único</a:t>
            </a:r>
            <a:r>
              <a:rPr sz="1500" b="1" dirty="0">
                <a:solidFill>
                  <a:srgbClr val="1F3864"/>
                </a:solidFill>
                <a:latin typeface="Calibri"/>
              </a:rPr>
              <a:t> del </a:t>
            </a:r>
            <a:r>
              <a:rPr sz="1500" b="1" dirty="0" err="1">
                <a:solidFill>
                  <a:srgbClr val="1F3864"/>
                </a:solidFill>
                <a:latin typeface="Calibri"/>
              </a:rPr>
              <a:t>proyecto</a:t>
            </a:r>
            <a:endParaRPr sz="1500" b="1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680960" y="1920240"/>
            <a:ext cx="4114800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80960" y="1920240"/>
            <a:ext cx="73152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0" y="1992664"/>
            <a:ext cx="3840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dirty="0">
                <a:solidFill>
                  <a:srgbClr val="1F3864"/>
                </a:solidFill>
                <a:latin typeface="Calibri"/>
              </a:rPr>
              <a:t>67 % / 33 %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511364"/>
            <a:ext cx="3840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595959"/>
                </a:solidFill>
                <a:latin typeface="Calibri"/>
              </a:rPr>
              <a:t>intra-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género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/ cross-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género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· 1,126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reglas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cruzan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géneros</a:t>
            </a:r>
            <a:endParaRPr sz="1100" b="0" dirty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80960" y="2926080"/>
            <a:ext cx="4114800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80960" y="2926080"/>
            <a:ext cx="73152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2990412"/>
            <a:ext cx="3840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dirty="0">
                <a:solidFill>
                  <a:srgbClr val="1F3864"/>
                </a:solidFill>
                <a:latin typeface="Calibri"/>
              </a:rPr>
              <a:t>72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492928"/>
            <a:ext cx="3840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 err="1">
                <a:solidFill>
                  <a:srgbClr val="595959"/>
                </a:solidFill>
                <a:latin typeface="Calibri"/>
              </a:rPr>
              <a:t>reglas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cross-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género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con lift &gt; 3 —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patrones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no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triviales</a:t>
            </a:r>
            <a:endParaRPr sz="1100" b="0" dirty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80960" y="393192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Calibri"/>
              </a:rPr>
              <a:t>Top ejemplos cross-género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0824" y="4278664"/>
            <a:ext cx="411480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dirty="0">
                <a:solidFill>
                  <a:srgbClr val="1F3864"/>
                </a:solidFill>
                <a:latin typeface="Calibri"/>
              </a:rPr>
              <a:t>• WALL·E → Dark Knight </a:t>
            </a:r>
            <a:r>
              <a:rPr sz="900" dirty="0">
                <a:solidFill>
                  <a:srgbClr val="595959"/>
                </a:solidFill>
                <a:latin typeface="Calibri"/>
              </a:rPr>
              <a:t>(lift 5.28)</a:t>
            </a:r>
          </a:p>
          <a:p>
            <a:r>
              <a:rPr sz="900" i="1" dirty="0">
                <a:solidFill>
                  <a:srgbClr val="595959"/>
                </a:solidFill>
                <a:latin typeface="Calibri"/>
              </a:rPr>
              <a:t>   </a:t>
            </a:r>
            <a:r>
              <a:rPr sz="900" i="1" dirty="0" err="1">
                <a:solidFill>
                  <a:srgbClr val="595959"/>
                </a:solidFill>
                <a:latin typeface="Calibri"/>
              </a:rPr>
              <a:t>animación</a:t>
            </a:r>
            <a:r>
              <a:rPr sz="900" i="1" dirty="0">
                <a:solidFill>
                  <a:srgbClr val="595959"/>
                </a:solidFill>
                <a:latin typeface="Calibri"/>
              </a:rPr>
              <a:t> familiar → </a:t>
            </a:r>
            <a:r>
              <a:rPr sz="900" i="1" dirty="0" err="1">
                <a:solidFill>
                  <a:srgbClr val="595959"/>
                </a:solidFill>
                <a:latin typeface="Calibri"/>
              </a:rPr>
              <a:t>acción</a:t>
            </a:r>
            <a:r>
              <a:rPr sz="90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900" i="1" dirty="0" err="1">
                <a:solidFill>
                  <a:srgbClr val="595959"/>
                </a:solidFill>
                <a:latin typeface="Calibri"/>
              </a:rPr>
              <a:t>adulta</a:t>
            </a:r>
            <a:r>
              <a:rPr sz="900" i="1" dirty="0">
                <a:solidFill>
                  <a:srgbClr val="595959"/>
                </a:solidFill>
                <a:latin typeface="Calibri"/>
              </a:rPr>
              <a:t> · ambas 2008</a:t>
            </a:r>
          </a:p>
          <a:p>
            <a:r>
              <a:rPr sz="1000" b="1" dirty="0">
                <a:solidFill>
                  <a:srgbClr val="1F3864"/>
                </a:solidFill>
                <a:latin typeface="Calibri"/>
              </a:rPr>
              <a:t>• Vertigo → Psycho </a:t>
            </a:r>
            <a:r>
              <a:rPr sz="900" dirty="0">
                <a:solidFill>
                  <a:srgbClr val="595959"/>
                </a:solidFill>
                <a:latin typeface="Calibri"/>
              </a:rPr>
              <a:t>(lift 4.94)</a:t>
            </a:r>
          </a:p>
          <a:p>
            <a:r>
              <a:rPr sz="900" i="1" dirty="0">
                <a:solidFill>
                  <a:srgbClr val="595959"/>
                </a:solidFill>
                <a:latin typeface="Calibri"/>
              </a:rPr>
              <a:t>   Hitchcock director · </a:t>
            </a:r>
            <a:r>
              <a:rPr sz="900" i="1" dirty="0" err="1">
                <a:solidFill>
                  <a:srgbClr val="595959"/>
                </a:solidFill>
                <a:latin typeface="Calibri"/>
              </a:rPr>
              <a:t>ningún</a:t>
            </a:r>
            <a:r>
              <a:rPr sz="90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900" i="1" dirty="0" err="1">
                <a:solidFill>
                  <a:srgbClr val="595959"/>
                </a:solidFill>
                <a:latin typeface="Calibri"/>
              </a:rPr>
              <a:t>género</a:t>
            </a:r>
            <a:r>
              <a:rPr sz="900" i="1" dirty="0">
                <a:solidFill>
                  <a:srgbClr val="595959"/>
                </a:solidFill>
                <a:latin typeface="Calibri"/>
              </a:rPr>
              <a:t> lo </a:t>
            </a:r>
            <a:r>
              <a:rPr sz="900" i="1" dirty="0" err="1">
                <a:solidFill>
                  <a:srgbClr val="595959"/>
                </a:solidFill>
                <a:latin typeface="Calibri"/>
              </a:rPr>
              <a:t>predice</a:t>
            </a:r>
            <a:endParaRPr sz="900" i="1" dirty="0">
              <a:solidFill>
                <a:srgbClr val="595959"/>
              </a:solidFill>
              <a:latin typeface="Calibri"/>
            </a:endParaRPr>
          </a:p>
          <a:p>
            <a:r>
              <a:rPr sz="1000" b="1" dirty="0">
                <a:solidFill>
                  <a:srgbClr val="1F3864"/>
                </a:solidFill>
                <a:latin typeface="Calibri"/>
              </a:rPr>
              <a:t>• </a:t>
            </a:r>
            <a:r>
              <a:rPr sz="900" dirty="0">
                <a:solidFill>
                  <a:srgbClr val="595959"/>
                </a:solidFill>
                <a:latin typeface="Calibri"/>
              </a:rPr>
              <a:t>4</a:t>
            </a:r>
            <a:r>
              <a:rPr lang="en-US" sz="900" b="1" dirty="0">
                <a:solidFill>
                  <a:srgbClr val="1F3864"/>
                </a:solidFill>
              </a:rPr>
              <a:t>Maltese Falcon → Casablanca </a:t>
            </a:r>
            <a:r>
              <a:rPr lang="en-US" sz="800" dirty="0">
                <a:solidFill>
                  <a:srgbClr val="595959"/>
                </a:solidFill>
              </a:rPr>
              <a:t>(lift </a:t>
            </a:r>
            <a:r>
              <a:rPr sz="900" dirty="0">
                <a:solidFill>
                  <a:srgbClr val="595959"/>
                </a:solidFill>
                <a:latin typeface="Calibri"/>
              </a:rPr>
              <a:t>.42)</a:t>
            </a:r>
          </a:p>
          <a:p>
            <a:r>
              <a:rPr sz="900" i="1" dirty="0">
                <a:solidFill>
                  <a:srgbClr val="595959"/>
                </a:solidFill>
                <a:latin typeface="Calibri"/>
              </a:rPr>
              <a:t>   cine </a:t>
            </a:r>
            <a:r>
              <a:rPr sz="900" i="1" dirty="0" err="1">
                <a:solidFill>
                  <a:srgbClr val="595959"/>
                </a:solidFill>
                <a:latin typeface="Calibri"/>
              </a:rPr>
              <a:t>clásico</a:t>
            </a:r>
            <a:r>
              <a:rPr sz="90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900" i="1" dirty="0" err="1">
                <a:solidFill>
                  <a:srgbClr val="595959"/>
                </a:solidFill>
                <a:latin typeface="Calibri"/>
              </a:rPr>
              <a:t>años</a:t>
            </a:r>
            <a:r>
              <a:rPr sz="900" i="1" dirty="0">
                <a:solidFill>
                  <a:srgbClr val="595959"/>
                </a:solidFill>
                <a:latin typeface="Calibri"/>
              </a:rPr>
              <a:t> 40 · </a:t>
            </a:r>
            <a:r>
              <a:rPr sz="900" i="1" dirty="0" err="1">
                <a:solidFill>
                  <a:srgbClr val="595959"/>
                </a:solidFill>
                <a:latin typeface="Calibri"/>
              </a:rPr>
              <a:t>curaduría</a:t>
            </a:r>
            <a:r>
              <a:rPr sz="900" i="1" dirty="0">
                <a:solidFill>
                  <a:srgbClr val="595959"/>
                </a:solidFill>
                <a:latin typeface="Calibri"/>
              </a:rPr>
              <a:t> humana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78459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 err="1">
                <a:solidFill>
                  <a:srgbClr val="1F3864"/>
                </a:solidFill>
                <a:latin typeface="Calibri"/>
              </a:rPr>
              <a:t>Argumento</a:t>
            </a:r>
            <a:r>
              <a:rPr sz="12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1F3864"/>
                </a:solidFill>
                <a:latin typeface="Calibri"/>
              </a:rPr>
              <a:t>defensivo</a:t>
            </a:r>
            <a:endParaRPr sz="1200" b="1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2920" y="6058912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>
                <a:solidFill>
                  <a:srgbClr val="595959"/>
                </a:solidFill>
                <a:latin typeface="Calibri"/>
              </a:rPr>
              <a:t>•  Sin metadata, las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reglas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detectan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curaduría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humana (director, audiencia,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año</a:t>
            </a:r>
            <a:r>
              <a:rPr sz="1100" dirty="0">
                <a:solidFill>
                  <a:srgbClr val="595959"/>
                </a:solidFill>
                <a:latin typeface="Calibri"/>
              </a:rPr>
              <a:t>). Netflix/Spotify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capturan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exactamente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esto</a:t>
            </a:r>
            <a:r>
              <a:rPr sz="1100" dirty="0">
                <a:solidFill>
                  <a:srgbClr val="595959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CFE44E-C07B-8883-312E-23E1EE256650}"/>
              </a:ext>
            </a:extLst>
          </p:cNvPr>
          <p:cNvSpPr/>
          <p:nvPr/>
        </p:nvSpPr>
        <p:spPr>
          <a:xfrm>
            <a:off x="0" y="-179372"/>
            <a:ext cx="12191695" cy="7216743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9453" y="404946"/>
            <a:ext cx="54864" cy="5029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573280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16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183"/>
            <a:ext cx="5577840" cy="169417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81654" y="1170183"/>
            <a:ext cx="73152" cy="1694174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31520" y="1398783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398783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Exactitud vs eficiencia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38863"/>
            <a:ext cx="5120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595959"/>
                </a:solidFill>
                <a:latin typeface="Calibri"/>
              </a:rPr>
              <a:t>Comparar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todas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las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películas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con Jaccard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exacto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cuesta O(N²) ≈ 365M pares para 27K.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MinHash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+ LSH lo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bajan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a O(N)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candidatos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perdiendo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solo 0.01 de error medio. La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aproximación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es viable.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170183"/>
            <a:ext cx="5577840" cy="169417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170183"/>
            <a:ext cx="73152" cy="1694174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92240" y="1398783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398783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FP vs FN en producción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038863"/>
            <a:ext cx="5120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Un FP recomienda algo que no se consume (costo bajo). Un FN deja de recomendar algo que gustaría (costo alto, pierde engagement). El balance se afina con b según el objetivo: descubrimiento (b alto) vs curaduría (b bajo).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979209"/>
            <a:ext cx="5577840" cy="169417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0579" y="2979209"/>
            <a:ext cx="73152" cy="1694174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31520" y="3207809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207809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¿Cuándo usar Spark?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847889"/>
            <a:ext cx="5120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595959"/>
                </a:solidFill>
                <a:latin typeface="Calibri"/>
              </a:rPr>
              <a:t>Con 20M ratings, pandas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puede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funcionar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en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M1 con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cuidado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,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pero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no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escala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a 200M+. Spark se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justifica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cuando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los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datos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no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caben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en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RAM, se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requiere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paralelismo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SQL real, o se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quiere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portabilidad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a un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clúster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productivo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979209"/>
            <a:ext cx="5577840" cy="169417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63640" y="2979209"/>
            <a:ext cx="73152" cy="1694174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92240" y="3207809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207809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Aplicabilidad real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847889"/>
            <a:ext cx="5120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El pipeline Jaccard → MinHash → LSH es exactamente lo que usa Netflix para encontrar películas similares, Spotify para canciones y Amazon para productos. La representación por usuarios con like es agnóstica de features.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763776"/>
            <a:ext cx="557784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4964241"/>
            <a:ext cx="5303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dirty="0">
                <a:solidFill>
                  <a:srgbClr val="1F3864"/>
                </a:solidFill>
                <a:latin typeface="Calibri"/>
              </a:rPr>
              <a:t>5  </a:t>
            </a:r>
            <a:r>
              <a:rPr sz="3000" b="1" dirty="0" err="1">
                <a:solidFill>
                  <a:srgbClr val="1F3864"/>
                </a:solidFill>
                <a:latin typeface="Calibri"/>
              </a:rPr>
              <a:t>Cuellos</a:t>
            </a:r>
            <a:r>
              <a:rPr sz="30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3000" b="1" dirty="0" err="1">
                <a:solidFill>
                  <a:srgbClr val="1F3864"/>
                </a:solidFill>
                <a:latin typeface="Calibri"/>
              </a:rPr>
              <a:t>Apriori</a:t>
            </a:r>
            <a:endParaRPr sz="3000" b="1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5800" y="5604321"/>
            <a:ext cx="5303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595959"/>
                </a:solidFill>
                <a:latin typeface="Calibri"/>
              </a:rPr>
              <a:t>Costo O(n · |basket|^k) — k=2 son 84M ops (30s); k=3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escalaría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a ~1.3 G ops (~7min).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Limitamos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por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costo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, no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por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algoritmo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4742019"/>
            <a:ext cx="557784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6520" y="4879179"/>
            <a:ext cx="5303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dirty="0">
                <a:solidFill>
                  <a:srgbClr val="1F3864"/>
                </a:solidFill>
                <a:latin typeface="Calibri"/>
              </a:rPr>
              <a:t>6  Spark vs local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519259"/>
            <a:ext cx="5303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595959"/>
                </a:solidFill>
                <a:latin typeface="Calibri"/>
              </a:rPr>
              <a:t>Spark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gana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solo con cluster real o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datos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sin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filtrar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.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Sobre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datos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pre-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filtrados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(590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pelis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, 68K trans),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Apriori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puro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corre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en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30s sin overhead.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32988-1E22-6C12-00DC-E4736C1B1109}"/>
              </a:ext>
            </a:extLst>
          </p:cNvPr>
          <p:cNvSpPr txBox="1"/>
          <p:nvPr/>
        </p:nvSpPr>
        <p:spPr>
          <a:xfrm>
            <a:off x="685800" y="386322"/>
            <a:ext cx="109728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200" b="1" i="0" dirty="0" err="1">
                <a:solidFill>
                  <a:srgbClr val="F4B400"/>
                </a:solidFill>
                <a:latin typeface="Calibri"/>
              </a:rPr>
              <a:t>Discusión</a:t>
            </a:r>
            <a:r>
              <a:rPr lang="en-US" sz="3200" b="1" i="0" dirty="0">
                <a:solidFill>
                  <a:srgbClr val="F4B400"/>
                </a:solidFill>
                <a:latin typeface="Calibri"/>
              </a:rPr>
              <a:t> </a:t>
            </a:r>
            <a:r>
              <a:rPr lang="en-US" sz="3200" b="1" i="0" dirty="0" err="1">
                <a:solidFill>
                  <a:srgbClr val="F4B400"/>
                </a:solidFill>
                <a:latin typeface="Calibri"/>
              </a:rPr>
              <a:t>crítica</a:t>
            </a:r>
            <a:endParaRPr sz="3200" b="1" i="0" dirty="0">
              <a:solidFill>
                <a:srgbClr val="F4B400"/>
              </a:solidFill>
              <a:latin typeface="Calibri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7AA9273-45BB-2FBA-25EF-7E0463E210C9}"/>
              </a:ext>
            </a:extLst>
          </p:cNvPr>
          <p:cNvSpPr/>
          <p:nvPr/>
        </p:nvSpPr>
        <p:spPr>
          <a:xfrm>
            <a:off x="480579" y="4763776"/>
            <a:ext cx="73152" cy="13716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A17E74A-7DA4-9E5A-8AEF-F51E05241F12}"/>
              </a:ext>
            </a:extLst>
          </p:cNvPr>
          <p:cNvSpPr/>
          <p:nvPr/>
        </p:nvSpPr>
        <p:spPr>
          <a:xfrm>
            <a:off x="6263640" y="4742019"/>
            <a:ext cx="73152" cy="13716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3041</TotalTime>
  <Words>2183</Words>
  <Application>Microsoft Macintosh PowerPoint</Application>
  <PresentationFormat>Widescreen</PresentationFormat>
  <Paragraphs>277</Paragraphs>
  <Slides>21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Nahía Alejandra Escalante Ccoyllo</cp:lastModifiedBy>
  <cp:revision>14</cp:revision>
  <dcterms:created xsi:type="dcterms:W3CDTF">2013-01-27T09:14:16Z</dcterms:created>
  <dcterms:modified xsi:type="dcterms:W3CDTF">2026-05-09T22:12:13Z</dcterms:modified>
  <cp:category/>
</cp:coreProperties>
</file>